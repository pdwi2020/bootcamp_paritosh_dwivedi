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bf8377e44642c8" /><Relationship Type="http://schemas.openxmlformats.org/officeDocument/2006/relationships/extended-properties" Target="/docProps/app.xml" Id="R4be9acdd748c4d3d" /><Relationship Type="http://schemas.openxmlformats.org/officeDocument/2006/relationships/officeDocument" Target="/ppt/presentation.xml" Id="R0e6b0f1103ab49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d1dad5a5bf49fe"/>
  </p:sldMasterIdLst>
  <p:notesMasterIdLst>
    <p:notesMasterId xmlns:r="http://schemas.openxmlformats.org/officeDocument/2006/relationships" r:id="Recda45485d154703"/>
  </p:notesMasterIdLst>
  <p:sldIdLst>
    <p:sldId xmlns:r="http://schemas.openxmlformats.org/officeDocument/2006/relationships" id="256" r:id="R34adc388ed794a09"/>
    <p:sldId xmlns:r="http://schemas.openxmlformats.org/officeDocument/2006/relationships" id="257" r:id="Rd2bf2269dd0e40b5"/>
    <p:sldId xmlns:r="http://schemas.openxmlformats.org/officeDocument/2006/relationships" id="258" r:id="R1ac72369246445e7"/>
    <p:sldId xmlns:r="http://schemas.openxmlformats.org/officeDocument/2006/relationships" id="259" r:id="Rb9bca3125aaf4661"/>
    <p:sldId xmlns:r="http://schemas.openxmlformats.org/officeDocument/2006/relationships" id="260" r:id="R37f983cddc114cdb"/>
    <p:sldId xmlns:r="http://schemas.openxmlformats.org/officeDocument/2006/relationships" id="261" r:id="Rfb3dd1dd1fc2427f"/>
    <p:sldId xmlns:r="http://schemas.openxmlformats.org/officeDocument/2006/relationships" id="262" r:id="R616495f722bc4fac"/>
    <p:sldId xmlns:r="http://schemas.openxmlformats.org/officeDocument/2006/relationships" id="263" r:id="R9f15f4c64dbb4f5e"/>
    <p:sldId xmlns:r="http://schemas.openxmlformats.org/officeDocument/2006/relationships" id="264" r:id="Raaf476cffe594c20"/>
    <p:sldId xmlns:r="http://schemas.openxmlformats.org/officeDocument/2006/relationships" id="265" r:id="Rf198ec54926846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db40b32c39443e" /><Relationship Type="http://schemas.openxmlformats.org/officeDocument/2006/relationships/slideMaster" Target="/ppt/slideMasters/slideMaster1.xml" Id="R75d1dad5a5bf49fe" /><Relationship Type="http://schemas.openxmlformats.org/officeDocument/2006/relationships/notesMaster" Target="/ppt/notesMasters/notesMaster1.xml" Id="Recda45485d154703" /><Relationship Type="http://schemas.openxmlformats.org/officeDocument/2006/relationships/presProps" Target="/ppt/presProps.xml" Id="R8f7e03d5cbec46b3" /><Relationship Type="http://schemas.openxmlformats.org/officeDocument/2006/relationships/tableStyles" Target="/ppt/tableStyles.xml" Id="R83dd71f97d7c48de" /><Relationship Type="http://schemas.openxmlformats.org/officeDocument/2006/relationships/slide" Target="/ppt/slides/slide1.xml" Id="R34adc388ed794a09" /><Relationship Type="http://schemas.openxmlformats.org/officeDocument/2006/relationships/slide" Target="/ppt/slides/slide2.xml" Id="Rd2bf2269dd0e40b5" /><Relationship Type="http://schemas.openxmlformats.org/officeDocument/2006/relationships/slide" Target="/ppt/slides/slide3.xml" Id="R1ac72369246445e7" /><Relationship Type="http://schemas.openxmlformats.org/officeDocument/2006/relationships/slide" Target="/ppt/slides/slide4.xml" Id="Rb9bca3125aaf4661" /><Relationship Type="http://schemas.openxmlformats.org/officeDocument/2006/relationships/slide" Target="/ppt/slides/slide5.xml" Id="R37f983cddc114cdb" /><Relationship Type="http://schemas.openxmlformats.org/officeDocument/2006/relationships/slide" Target="/ppt/slides/slide6.xml" Id="Rfb3dd1dd1fc2427f" /><Relationship Type="http://schemas.openxmlformats.org/officeDocument/2006/relationships/slide" Target="/ppt/slides/slide7.xml" Id="R616495f722bc4fac" /><Relationship Type="http://schemas.openxmlformats.org/officeDocument/2006/relationships/slide" Target="/ppt/slides/slide8.xml" Id="R9f15f4c64dbb4f5e" /><Relationship Type="http://schemas.openxmlformats.org/officeDocument/2006/relationships/slide" Target="/ppt/slides/slide9.xml" Id="Raaf476cffe594c20" /><Relationship Type="http://schemas.openxmlformats.org/officeDocument/2006/relationships/slide" Target="/ppt/slides/slide10.xml" Id="Rf198ec54926846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8019a2bd744b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6928468eb2461f" /><Relationship Type="http://schemas.openxmlformats.org/officeDocument/2006/relationships/notesMaster" Target="/ppt/notesMasters/notesMaster1.xml" Id="Re5c3068beb0647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f6b84e5f4646ec" /><Relationship Type="http://schemas.openxmlformats.org/officeDocument/2006/relationships/notesMaster" Target="/ppt/notesMasters/notesMaster1.xml" Id="R993b49249fa040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2873bdda9e4f99" /><Relationship Type="http://schemas.openxmlformats.org/officeDocument/2006/relationships/notesMaster" Target="/ppt/notesMasters/notesMaster1.xml" Id="R99fb2ad784534d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4338b5ccac4d64" /><Relationship Type="http://schemas.openxmlformats.org/officeDocument/2006/relationships/notesMaster" Target="/ppt/notesMasters/notesMaster1.xml" Id="R235ef9bd137f45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b9ff72f0324811" /><Relationship Type="http://schemas.openxmlformats.org/officeDocument/2006/relationships/notesMaster" Target="/ppt/notesMasters/notesMaster1.xml" Id="R45b494aa90aa41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23f921eda7494a" /><Relationship Type="http://schemas.openxmlformats.org/officeDocument/2006/relationships/notesMaster" Target="/ppt/notesMasters/notesMaster1.xml" Id="R7be6c677948d49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2b459bcb9046cb" /><Relationship Type="http://schemas.openxmlformats.org/officeDocument/2006/relationships/notesMaster" Target="/ppt/notesMasters/notesMaster1.xml" Id="R32315953b3b64c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958155a4104e00" /><Relationship Type="http://schemas.openxmlformats.org/officeDocument/2006/relationships/notesMaster" Target="/ppt/notesMasters/notesMaster1.xml" Id="Re8b6ebb34a6b47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6668130d3834978" /><Relationship Type="http://schemas.openxmlformats.org/officeDocument/2006/relationships/notesMaster" Target="/ppt/notesMasters/notesMaster1.xml" Id="R45688315d761450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7300bb6bff4663" /><Relationship Type="http://schemas.openxmlformats.org/officeDocument/2006/relationships/notesMaster" Target="/ppt/notesMasters/notesMaster1.xml" Id="R44052a36595e45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project/data/raw/spy_daily_*.csv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project/README.md</a:t>
            </a:r>
          </a:p>
          <a:p xmlns:a="http://schemas.openxmlformats.org/drawingml/2006/main">
            <a:r>
              <a:t>- project/docs/decision_log.md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project/data/raw/spy_daily_*.manifest.json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project/src/features.py</a:t>
            </a:r>
          </a:p>
          <a:p xmlns:a="http://schemas.openxmlformats.org/drawingml/2006/main">
            <a:r>
              <a:t>- project/src/modeling.py</a:t>
            </a:r>
          </a:p>
          <a:p xmlns:a="http://schemas.openxmlformats.org/drawingml/2006/main">
            <a:r>
              <a:t>- project/docs/decision_log.md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- project/reports/model_predictions.csv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- project/reports/model_predictions.csv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- project/reports/risk_threshold_sensitivity.csv</a:t>
            </a:r>
          </a:p>
          <a:p xmlns:a="http://schemas.openxmlformats.org/drawingml/2006/main">
            <a:r>
              <a:t>- project/reports/feature_window_sensitivity.csv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- project/reports/final_summary.md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project/docs/assumptions_and_risks.md</a:t>
            </a:r>
          </a:p>
          <a:p xmlns:a="http://schemas.openxmlformats.org/drawingml/2006/main">
            <a:r>
              <a:t>- project/docs/decision_log.md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project/reports/final_summary.md</a:t>
            </a:r>
          </a:p>
          <a:p xmlns:a="http://schemas.openxmlformats.org/drawingml/2006/main">
            <a:r>
              <a:t>- project/reports/metrics.json</a:t>
            </a:r>
          </a:p>
          <a:p xmlns:a="http://schemas.openxmlformats.org/drawingml/2006/main">
            <a:r>
              <a:t>- project/README.md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a0d5bec32d4b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b6e745533641fd" /><Relationship Type="http://schemas.openxmlformats.org/officeDocument/2006/relationships/slideLayout" Target="/ppt/slideLayouts/slideLayout1.xml" Id="Rca0b756fd20741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0b756fd20741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b7e19e9da647ff" /><Relationship Type="http://schemas.openxmlformats.org/officeDocument/2006/relationships/chart" Target="/ppt/slides/charts/chart1.xml" Id="Ra42ba650e2644232" /><Relationship Type="http://schemas.openxmlformats.org/officeDocument/2006/relationships/notesSlide" Target="/ppt/notesSlides/notesSlide1.xml" Id="R863cba8e5b9c49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90becdb484904" /><Relationship Type="http://schemas.openxmlformats.org/officeDocument/2006/relationships/notesSlide" Target="/ppt/notesSlides/notesSlide2.xml" Id="R917cbf231ed34e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e9287e6a814c0e" /><Relationship Type="http://schemas.openxmlformats.org/officeDocument/2006/relationships/chart" Target="/ppt/slides/charts/chart2.xml" Id="R5cb10ea5043740d3" /><Relationship Type="http://schemas.openxmlformats.org/officeDocument/2006/relationships/notesSlide" Target="/ppt/notesSlides/notesSlide3.xml" Id="Rc01c2fa0fa964a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f0235cf2f45f8" /><Relationship Type="http://schemas.openxmlformats.org/officeDocument/2006/relationships/notesSlide" Target="/ppt/notesSlides/notesSlide4.xml" Id="Rcb3dbaa89bb943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a512245c746c8" /><Relationship Type="http://schemas.openxmlformats.org/officeDocument/2006/relationships/chart" Target="/ppt/slides/charts/chart3.xml" Id="Rab9e56160a004b53" /><Relationship Type="http://schemas.openxmlformats.org/officeDocument/2006/relationships/notesSlide" Target="/ppt/notesSlides/notesSlide5.xml" Id="Rd515c9e8950a43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c5ef0c9a94436" /><Relationship Type="http://schemas.openxmlformats.org/officeDocument/2006/relationships/chart" Target="/ppt/slides/charts/chart4.xml" Id="R69f54f72f33e4400" /><Relationship Type="http://schemas.openxmlformats.org/officeDocument/2006/relationships/notesSlide" Target="/ppt/notesSlides/notesSlide6.xml" Id="R3e648c56646e4a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10b31c280e403f" /><Relationship Type="http://schemas.openxmlformats.org/officeDocument/2006/relationships/notesSlide" Target="/ppt/notesSlides/notesSlide7.xml" Id="R4794af1836a249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37c63d9433421c" /><Relationship Type="http://schemas.openxmlformats.org/officeDocument/2006/relationships/chart" Target="/ppt/slides/charts/chart5.xml" Id="Raf06eb0f4fa44b94" /><Relationship Type="http://schemas.openxmlformats.org/officeDocument/2006/relationships/notesSlide" Target="/ppt/notesSlides/notesSlide8.xml" Id="Rac03119c80ad40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879317e044566" /><Relationship Type="http://schemas.openxmlformats.org/officeDocument/2006/relationships/notesSlide" Target="/ppt/notesSlides/notesSlide9.xml" Id="Raf428ae15cd44b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31e45011ac4b9b" /><Relationship Type="http://schemas.openxmlformats.org/officeDocument/2006/relationships/notesSlide" Target="/ppt/notesSlides/notesSlide10.xml" Id="R1e9632ec0e204936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SPY adjusted close</c:v>
          </c:tx>
          <c:spPr>
            <a:ln xmlns:a="http://schemas.openxmlformats.org/drawingml/2006/main" w="38100">
              <a:solidFill>
                <a:srgbClr val="3D8DFF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20"/>
              <c:pt idx="0">
                <c:v>2010</c:v>
              </c:pt>
              <c:pt idx="1">
                <c:v>2010</c:v>
              </c:pt>
              <c:pt idx="2">
                <c:v>2011</c:v>
              </c:pt>
              <c:pt idx="3">
                <c:v>2012</c:v>
              </c:pt>
              <c:pt idx="4">
                <c:v>2013</c:v>
              </c:pt>
              <c:pt idx="5">
                <c:v>2014</c:v>
              </c:pt>
              <c:pt idx="6">
                <c:v>2015</c:v>
              </c:pt>
              <c:pt idx="7">
                <c:v>2015</c:v>
              </c:pt>
              <c:pt idx="8">
                <c:v>2016</c:v>
              </c:pt>
              <c:pt idx="9">
                <c:v>2017</c:v>
              </c:pt>
              <c:pt idx="10">
                <c:v>2018</c:v>
              </c:pt>
              <c:pt idx="11">
                <c:v>2019</c:v>
              </c:pt>
              <c:pt idx="12">
                <c:v>2020</c:v>
              </c:pt>
              <c:pt idx="13">
                <c:v>2020</c:v>
              </c:pt>
              <c:pt idx="14">
                <c:v>2021</c:v>
              </c:pt>
              <c:pt idx="15">
                <c:v>2022</c:v>
              </c:pt>
              <c:pt idx="16">
                <c:v>2023</c:v>
              </c:pt>
              <c:pt idx="17">
                <c:v>2024</c:v>
              </c:pt>
              <c:pt idx="18">
                <c:v>2025</c:v>
              </c:pt>
              <c:pt idx="19">
                <c:v>2025</c:v>
              </c:pt>
            </c:numLit>
          </c:cat>
          <c:val>
            <c:numLit>
              <c:formatCode>$0</c:formatCode>
              <c:ptCount val="20"/>
              <c:pt idx="0">
                <c:v>84.57848358154297</c:v>
              </c:pt>
              <c:pt idx="1">
                <c:v>90.43546295166016</c:v>
              </c:pt>
              <c:pt idx="2">
                <c:v>92.88772583007812</c:v>
              </c:pt>
              <c:pt idx="3">
                <c:v>107.77971649169922</c:v>
              </c:pt>
              <c:pt idx="4">
                <c:v>129.702392578125</c:v>
              </c:pt>
              <c:pt idx="5">
                <c:v>152.52484130859375</c:v>
              </c:pt>
              <c:pt idx="6">
                <c:v>165.05389404296875</c:v>
              </c:pt>
              <c:pt idx="7">
                <c:v>176.29649353027344</c:v>
              </c:pt>
              <c:pt idx="8">
                <c:v>186.57264709472656</c:v>
              </c:pt>
              <c:pt idx="9">
                <c:v>210.4241943359375</c:v>
              </c:pt>
              <c:pt idx="10">
                <c:v>235.2686767578125</c:v>
              </c:pt>
              <c:pt idx="11">
                <c:v>249.08682250976562</c:v>
              </c:pt>
              <c:pt idx="12">
                <c:v>295.742431640625</c:v>
              </c:pt>
              <c:pt idx="13">
                <c:v>323.8321533203125</c:v>
              </c:pt>
              <c:pt idx="14">
                <c:v>421.4343566894531</c:v>
              </c:pt>
              <c:pt idx="15">
                <c:v>364.2190856933594</c:v>
              </c:pt>
              <c:pt idx="16">
                <c:v>396.26715087890625</c:v>
              </c:pt>
              <c:pt idx="17">
                <c:v>501.64703369140625</c:v>
              </c:pt>
              <c:pt idx="18">
                <c:v>571.6043090820312</c:v>
              </c:pt>
              <c:pt idx="19">
                <c:v>677.7648315429688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72768"/>
        <c:lblOffset val="8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6EE"/>
              </a:solidFill>
              <a:prstDash val="solid"/>
            </a:ln>
          </c:spPr>
        </c:majorGridlines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EAF5FB"/>
          </a:solidFill>
          <a:prstDash val="solid"/>
        </a:ln>
      </c:spPr>
    </c:plotArea>
    <c:plotVisOnly val="1"/>
  </c:chart>
  <c:spPr>
    <a:solidFill xmlns:a="http://schemas.openxmlformats.org/drawingml/2006/main">
      <a:srgbClr val="EAF5FB"/>
    </a:solidFill>
    <a:ln xmlns:a="http://schemas.openxmlformats.org/drawingml/2006/main" w="0">
      <a:solidFill>
        <a:srgbClr val="EAF5FB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SPY adjusted close</c:v>
          </c:tx>
          <c:spPr>
            <a:ln xmlns:a="http://schemas.openxmlformats.org/drawingml/2006/main" w="38100">
              <a:solidFill>
                <a:srgbClr val="3D8DFF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3D8DFF"/>
              </a:solidFill>
            </c:spPr>
          </c:marker>
          <c:cat>
            <c:strLit>
              <c:ptCount val="18"/>
              <c:pt idx="0">
                <c:v>2023-08</c:v>
              </c:pt>
              <c:pt idx="1">
                <c:v>2023-10</c:v>
              </c:pt>
              <c:pt idx="2">
                <c:v>2023-12</c:v>
              </c:pt>
              <c:pt idx="3">
                <c:v>2024-02</c:v>
              </c:pt>
              <c:pt idx="4">
                <c:v>2024-04</c:v>
              </c:pt>
              <c:pt idx="5">
                <c:v>2024-06</c:v>
              </c:pt>
              <c:pt idx="6">
                <c:v>2024-08</c:v>
              </c:pt>
              <c:pt idx="7">
                <c:v>2024-10</c:v>
              </c:pt>
              <c:pt idx="8">
                <c:v>2024-12</c:v>
              </c:pt>
              <c:pt idx="9">
                <c:v>2025-02</c:v>
              </c:pt>
              <c:pt idx="10">
                <c:v>2025-04</c:v>
              </c:pt>
              <c:pt idx="11">
                <c:v>2025-06</c:v>
              </c:pt>
              <c:pt idx="12">
                <c:v>2025-08</c:v>
              </c:pt>
              <c:pt idx="13">
                <c:v>2025-10</c:v>
              </c:pt>
              <c:pt idx="14">
                <c:v>2025-12</c:v>
              </c:pt>
              <c:pt idx="15">
                <c:v>2026-02</c:v>
              </c:pt>
              <c:pt idx="16">
                <c:v>2026-04</c:v>
              </c:pt>
              <c:pt idx="17">
                <c:v>2026-06</c:v>
              </c:pt>
            </c:strLit>
          </c:cat>
          <c:val>
            <c:numLit>
              <c:formatCode>$0</c:formatCode>
              <c:ptCount val="18"/>
              <c:pt idx="0">
                <c:v>429.3385925292969</c:v>
              </c:pt>
              <c:pt idx="1">
                <c:v>421.8327941894531</c:v>
              </c:pt>
              <c:pt idx="2">
                <c:v>446.65045166015625</c:v>
              </c:pt>
              <c:pt idx="3">
                <c:v>486.3096008300781</c:v>
              </c:pt>
              <c:pt idx="4">
                <c:v>497.431396484375</c:v>
              </c:pt>
              <c:pt idx="5">
                <c:v>527.1399536132812</c:v>
              </c:pt>
              <c:pt idx="6">
                <c:v>529.5048828125</c:v>
              </c:pt>
              <c:pt idx="7">
                <c:v>567.9132690429688</c:v>
              </c:pt>
              <c:pt idx="8">
                <c:v>595.2319946289062</c:v>
              </c:pt>
              <c:pt idx="9">
                <c:v>599.4672241210938</c:v>
              </c:pt>
              <c:pt idx="10">
                <c:v>530.151123046875</c:v>
              </c:pt>
              <c:pt idx="11">
                <c:v>594.318359375</c:v>
              </c:pt>
              <c:pt idx="12">
                <c:v>636.388671875</c:v>
              </c:pt>
              <c:pt idx="13">
                <c:v>659.7044067382812</c:v>
              </c:pt>
              <c:pt idx="14">
                <c:v>675.1365966796875</c:v>
              </c:pt>
              <c:pt idx="15">
                <c:v>679.2402954101562</c:v>
              </c:pt>
              <c:pt idx="16">
                <c:v>708.3152465820312</c:v>
              </c:pt>
              <c:pt idx="17">
                <c:v>739.0560302734375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72768"/>
        <c:lblOffset val="8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Ridge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MAE</c:v>
              </c:pt>
              <c:pt idx="1">
                <c:v>RMSE</c:v>
              </c:pt>
            </c:strLit>
          </c:cat>
          <c:val>
            <c:numLit>
              <c:formatCode>0.0</c:formatCode>
              <c:ptCount val="2"/>
              <c:pt idx="0">
                <c:v>4.02</c:v>
              </c:pt>
              <c:pt idx="1">
                <c:v>6.58</c:v>
              </c:pt>
            </c:numLit>
          </c:val>
        </c:ser>
        <c:ser>
          <c:idx val="1"/>
          <c:order val="1"/>
          <c:tx>
            <c:v>Recent-vol baseline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2"/>
              <c:pt idx="0">
                <c:v>MAE</c:v>
              </c:pt>
              <c:pt idx="1">
                <c:v>RMSE</c:v>
              </c:pt>
            </c:strLit>
          </c:cat>
          <c:val>
            <c:numLit>
              <c:formatCode>0.0</c:formatCode>
              <c:ptCount val="2"/>
              <c:pt idx="0">
                <c:v>5.07</c:v>
              </c:pt>
              <c:pt idx="1">
                <c:v>8.64</c:v>
              </c:pt>
            </c:numLit>
          </c:val>
        </c:ser>
        <c:ser>
          <c:idx val="2"/>
          <c:order val="2"/>
          <c:tx>
            <c:v>Historical mean</c:v>
          </c:tx>
          <c:spPr>
            <a:solidFill xmlns:a="http://schemas.openxmlformats.org/drawingml/2006/main">
              <a:srgbClr val="B8BCC4"/>
            </a:solidFill>
          </c:spPr>
          <c:cat>
            <c:strLit>
              <c:ptCount val="2"/>
              <c:pt idx="0">
                <c:v>MAE</c:v>
              </c:pt>
              <c:pt idx="1">
                <c:v>RMSE</c:v>
              </c:pt>
            </c:strLit>
          </c:cat>
          <c:val>
            <c:numLit>
              <c:formatCode>0.0</c:formatCode>
              <c:ptCount val="2"/>
              <c:pt idx="0">
                <c:v>5.17</c:v>
              </c:pt>
              <c:pt idx="1">
                <c:v>8.21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36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5F6368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Logistic risk model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Balanced accuracy</c:v>
              </c:pt>
              <c:pt idx="1">
                <c:v>Precision</c:v>
              </c:pt>
              <c:pt idx="2">
                <c:v>Recall</c:v>
              </c:pt>
              <c:pt idx="3">
                <c:v>ROC AUC</c:v>
              </c:pt>
            </c:strLit>
          </c:cat>
          <c:val>
            <c:numLit>
              <c:formatCode>General</c:formatCode>
              <c:ptCount val="4"/>
              <c:pt idx="0">
                <c:v>72.7</c:v>
              </c:pt>
              <c:pt idx="1">
                <c:v>37.2</c:v>
              </c:pt>
              <c:pt idx="2">
                <c:v>61.3</c:v>
              </c:pt>
              <c:pt idx="3">
                <c:v>77.7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36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Annualized volatility</c:v>
          </c:tx>
          <c:spPr>
            <a:solidFill xmlns:a="http://schemas.openxmlformats.org/drawingml/2006/main">
              <a:srgbClr val="3D8DFF"/>
            </a:solidFill>
          </c:spPr>
          <c:dPt>
            <c:idx val="2"/>
            <c:invertIfNegative val="0"/>
            <c:spPr>
              <a:solidFill xmlns:a="http://schemas.openxmlformats.org/drawingml/2006/main">
                <a:srgbClr val="D92D20"/>
              </a:solidFill>
            </c:spPr>
          </c:dPt>
          <c:cat>
            <c:strLit>
              <c:ptCount val="3"/>
              <c:pt idx="0">
                <c:v>20-day actual</c:v>
              </c:pt>
              <c:pt idx="1">
                <c:v>Five-session forecast</c:v>
              </c:pt>
              <c:pt idx="2">
                <c:v>Risk threshold</c:v>
              </c:pt>
            </c:strLit>
          </c:cat>
          <c:val>
            <c:numLit>
              <c:formatCode>General</c:formatCode>
              <c:ptCount val="3"/>
              <c:pt idx="0">
                <c:v>13.5</c:v>
              </c:pt>
              <c:pt idx="1">
                <c:v>11.3</c:v>
              </c:pt>
              <c:pt idx="2">
                <c:v>17.1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636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36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6E97D1-2975-470E-B0C2-B495A780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FRE-GY 5040 · APPLIED FINANCIAL ENGINEERING</a:t>
            </a:r>
          </a:p>
        </p:txBody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C2EAC7E1-8267-4823-AA38-08C3DD75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66850"/>
            <a:ext cx="49530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</a:defRPr>
            </a:pPr>
            <a:r>
              <a:rPr sz="4800" b="1">
                <a:solidFill>
                  <a:srgbClr val="111111"/>
                </a:solidFill>
              </a:rPr>
              <a:t>Weekly ETF</a:t>
            </a:r>
          </a:p>
          <a:p xmlns:a="http://schemas.openxmlformats.org/drawingml/2006/main">
            <a:pPr algn="l">
              <a:defRPr sz="4800" b="1">
                <a:solidFill>
                  <a:srgbClr val="111111"/>
                </a:solidFill>
              </a:defRPr>
            </a:pPr>
            <a:r>
              <a:rPr sz="4800" b="1">
                <a:solidFill>
                  <a:srgbClr val="111111"/>
                </a:solidFill>
              </a:rPr>
              <a:t>Risk Monitor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05C73D-AA6E-43FA-AD45-2C0CA7C5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48050"/>
            <a:ext cx="4857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368"/>
                </a:solidFill>
              </a:defRPr>
            </a:pPr>
            <a:r>
              <a:rPr sz="1875" b="0">
                <a:solidFill>
                  <a:srgbClr val="5F6368"/>
                </a:solidFill>
              </a:rPr>
              <a:t>A reproducible SPY signal for the portfolio manager's weekly risk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E18B43-CB68-4D67-B54E-A82C0C72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81600"/>
            <a:ext cx="457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Paritosh Dwivedi · Sole author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Data through August 17,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6D16FF-C3D6-47C8-BE8A-A04334D7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"/>
            <a:ext cx="56007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419850" y="952500"/>
          <a:ext xmlns:a="http://schemas.openxmlformats.org/drawingml/2006/main" cx="4953000" cy="4324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2ba650e2644232"/>
          </a:graphicData>
        </a:graphic>
      </p:graphicFrame>
      <p:sp>
        <p:nvSpPr>
          <p:cNvPr id="7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56784B8-DDAE-406C-8E40-8AB7074A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Source: immutable SPY raw snapshot and project metrics</a:t>
            </a:r>
          </a:p>
        </p:txBody>
      </p:sp>
      <p:sp>
        <p:nvSpPr>
          <p:cNvPr id="8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FFE22AE-014D-4097-8E9A-D2D0DCBC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284936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5BADDE-6C93-4628-A056-6229EEA2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One weekly question drives the entire pipeline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EDB1B2D8-584F-4421-8916-F36540E9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0DDBF-5194-4450-9F20-2C25A2EF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52197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Should the portfolio manager maintain SPY exposure—or investigate reducing it because near-term risk appears elevated?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D7939D-ACAB-46BD-AD14-3E428B35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4673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C8C12-BB06-4F16-BDD3-0CBF0A87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716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THE USEFUL ANSWER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1BE8F2-F9B9-4DBC-9B6B-A591CAAF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43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F61E3-E114-46F3-A85B-735A45009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43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Forecast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53B3C8-D6B3-4239-BFC4-3979FE8B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6860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Next-five-session annualized volatility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F8857-561C-4DA9-94CE-BE29B471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337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00A25-6740-45B9-B0BB-52E0DCA5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3337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Warning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FF2AA-B2E8-428A-B2D3-97F724F5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766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Class-weighted risk score—not a literal probability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56422B-206E-4F40-ADBC-CCC6BC61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243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DBDF91-6853-41D5-8255-858CE903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243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071BCE-B009-4298-AE65-84DA5C2B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Action language plus assumptions and limits</a:t>
            </a:r>
          </a:p>
        </p:txBody>
      </p:sp>
      <p:sp>
        <p:nvSpPr>
          <p:cNvPr id="1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8F038156-A967-4F52-8B88-F5E5141F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Decision support—not automated trading advice</a:t>
            </a:r>
          </a:p>
        </p:txBody>
      </p:sp>
      <p:sp>
        <p:nvSpPr>
          <p:cNvPr id="1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2E0E9A9-F09D-4C1A-A996-EF3C36A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332041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C4D049-B2D3-409F-B6A1-6C399166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4,180 validated trading days anchor the analysis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5641C039-D37E-40A1-B480-876D0505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95300" y="1428750"/>
          <a:ext xmlns:a="http://schemas.openxmlformats.org/drawingml/2006/main" cx="723900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b10ea5043740d3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13FC6-4C93-4F91-B53F-0B096A08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34C421-9513-426D-AA41-7A0F118C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ECD0A-FA2A-4B74-AEFF-15659BB4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002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4,180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C54B45-0C66-42FB-BEFB-A5682DBD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669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OBSERVATIONS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FF59F0-3FB0-482E-A615-19D6E164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71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Daily SPY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A8F2E2-B9E5-4E32-A4F0-6B778F11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9085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B2961D-0A0B-4FB9-A254-1477E541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9085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4D2654-04AF-46B2-A347-E2CFC4DF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62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16.6 yrs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68C99E-7653-4263-9BF0-D1DCCBAE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290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E287F-97D4-4F53-9D6C-E168EFF4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338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2010-01-04 to 2026-08-17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FB7240-1CFA-4A8E-A38C-13B025A2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5295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02BD4C-7315-49B4-AAEE-778AFA83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5295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39FB11-B55E-4FAE-9CBE-75F40DD4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7244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A87578-EB73-4446-BAAD-EACDB5F4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1911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QUALITY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0C7822-1227-4220-B60E-10144D69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4959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Missing required values or duplicates</a:t>
            </a:r>
          </a:p>
        </p:txBody>
      </p:sp>
      <p:sp>
        <p:nvSpPr>
          <p:cNvPr id="19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F623165D-EE2B-4951-8B94-A58B6DE5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Source: yfinance fallback; immutable CSV + SHA-256 manifest</a:t>
            </a:r>
          </a:p>
        </p:txBody>
      </p:sp>
      <p:sp>
        <p:nvSpPr>
          <p:cNvPr id="20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461DDF3-D464-4F4C-B351-F8016BD6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70653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BD6A91-9968-4421-A7A1-11D1C5E5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Every feature is available before the forecast window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2F93BABF-1600-497A-9404-031CD623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72AB0-2E7E-45D4-9811-415ADE57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23050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27C280-EA8D-4462-8428-AFA2406E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847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1 · SNAPSHOT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064B5-2278-40E2-BBA9-2937D8E7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1847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Immutable daily prices and volume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D60E30-CDD7-4D42-8F10-D691F7B9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289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0F1581-2BC9-4E7D-A26B-5418B243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00250"/>
            <a:ext cx="23050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02FBB5-4111-4986-B4E9-13DACA18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05050"/>
            <a:ext cx="1847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2 · TRAILING SIGNALS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E8557-A5E6-4468-BAB6-84F1A1FE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86100"/>
            <a:ext cx="1847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Returns, volatility, drawdown,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069EA-CAA3-477B-AFA4-97145283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289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A6B92-E082-4F6B-AFAE-F2430492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00250"/>
            <a:ext cx="23050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2DF04-A7C8-4416-866C-B3DFF5DE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05050"/>
            <a:ext cx="1847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3 · FUTURE 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8DE832-83B4-4053-BFF7-DB160EAA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86100"/>
            <a:ext cx="1847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Next five trading days of realized volatility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93B542-8DF7-4F0C-89B1-0B591872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289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31A912-4238-41B0-9612-D4C4D8CA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3050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5CCBCF-32C1-4C54-863B-1E262286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05050"/>
            <a:ext cx="1847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4 · LATER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054799-64A0-429A-BEB4-BFA0FAE9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86100"/>
            <a:ext cx="1847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Chronological out-of-sample evaluation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19D0B3-3E3E-4F30-A239-6BDF14C6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Leakage control: threshold and outlier parameters use training data only; five sessions are embargoed.</a:t>
            </a:r>
          </a:p>
        </p:txBody>
      </p:sp>
      <p:sp>
        <p:nvSpPr>
          <p:cNvPr id="19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D7505769-64D6-4D81-93DA-78A35402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Method: five-session horizon, trailing features, purged chronological 80/20 split</a:t>
            </a:r>
          </a:p>
        </p:txBody>
      </p:sp>
      <p:sp>
        <p:nvSpPr>
          <p:cNvPr id="20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2C1A6F4-4111-4448-A57A-7B30310A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425983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FD57EE-F292-46C6-9873-84048C22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Ridge cut forecast MAE by 20.8% versus recent volatility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67F766FD-086D-45BE-8382-655AB8F1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EFECF-4060-4F95-B23A-0A2D9985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Annualized volatility error (percentage points)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495300" y="1524000"/>
          <a:ext xmlns:a="http://schemas.openxmlformats.org/drawingml/2006/main" cx="6858000" cy="4362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9e56160a004b5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0FB9B-572C-4C10-B6CB-D4189A62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2400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6AA36A-14BB-43E7-BEA8-BA686DC8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2400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406A6-D075-4C31-B993-D1BFBD60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9545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4.02 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AAE1B-A713-4B00-8F2B-7933F44B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621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RIDGE MAE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46DD4-1278-4D8E-8E10-E4719ED8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66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Annualized-vol error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2A7F0A-BB39-4F42-83B7-CD434E52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B5994-464B-4A16-9F2C-CB92ED5C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C84F19-17C9-470D-B58A-8BCEFB77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5755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0.336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B3F9D3-53A8-4041-9FD0-C32F71AC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242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R-SQUARED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DB36E-7818-4F20-95AF-8A02F8FFF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290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Out-of-sample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A6A61-CB45-42D3-A23B-78863A8D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9DDECE-399A-47AE-9DCA-62581D5D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1051DD-D6B6-400F-B237-86A8E326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1965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20.8%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4AE7BB-17B4-4630-AA1B-0909696A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2863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IMPROVEMENT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0D60C9-489F-4569-85A3-2D5911C5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5911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Versus recent-vol MAE</a:t>
            </a:r>
          </a:p>
        </p:txBody>
      </p:sp>
      <p:sp>
        <p:nvSpPr>
          <p:cNvPr id="20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205AB3B-4A87-47D0-A92C-8B605513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Test period: 2023-04-12 to 2026-08-10</a:t>
            </a:r>
          </a:p>
        </p:txBody>
      </p:sp>
      <p:sp>
        <p:nvSpPr>
          <p:cNvPr id="21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4D1CBE1-52E9-4285-B8E1-1C082738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528004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8F46A0-F85E-49A0-BA1C-0618B00C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The warning model catches 61% of elevated-risk windows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260F4CA5-18EA-430F-AD45-15E9320E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495300" y="1562100"/>
          <a:ext xmlns:a="http://schemas.openxmlformats.org/drawingml/2006/main" cx="693420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f54f72f33e4400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792A2-67EB-4A02-B08E-4D427E72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045" y="207645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</a:defRPr>
            </a:pPr>
            <a:r>
              <a:rPr sz="1050" b="1">
                <a:solidFill>
                  <a:srgbClr val="111111"/>
                </a:solidFill>
              </a:rPr>
              <a:t>77.7%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64806-8B0B-46A2-ABA7-A4179804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2939" y="3076575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</a:defRPr>
            </a:pPr>
            <a:r>
              <a:rPr sz="1050" b="1">
                <a:solidFill>
                  <a:srgbClr val="111111"/>
                </a:solidFill>
              </a:rPr>
              <a:t>61.3%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966C2-5783-40BC-8F92-9ACC70E8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7606" y="4067175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</a:defRPr>
            </a:pPr>
            <a:r>
              <a:rPr sz="1050" b="1">
                <a:solidFill>
                  <a:srgbClr val="111111"/>
                </a:solidFill>
              </a:rPr>
              <a:t>37.2%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6EB6E5-DE91-4F5F-A9CE-AEBE9AC2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776" y="50673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</a:defRPr>
            </a:pPr>
            <a:r>
              <a:rPr sz="1050" b="1">
                <a:solidFill>
                  <a:srgbClr val="111111"/>
                </a:solidFill>
              </a:rPr>
              <a:t>72.7%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FC9049-645B-42A0-9DB5-ED553050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581150"/>
            <a:ext cx="37528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1279A4-B350-4203-BF9C-BA28DD63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47850"/>
            <a:ext cx="95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68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E94018-72B5-49A6-8B82-A1D42439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479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elevated-risk windows caught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41990E-2664-48D4-A7C1-47E1C606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146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43 elevated-risk windows were missed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0E6E1-B271-4E09-88A0-D6830D34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576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Why balanced accuracy?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9C9BC8-5434-41F6-B384-0A41F1E1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05300"/>
            <a:ext cx="3638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Elevated-risk windows are only 13.3% of the holdout. The prior baseline predicts only the majority class and catches zero elevated-risk windows.</a:t>
            </a:r>
          </a:p>
        </p:txBody>
      </p:sp>
      <p:sp>
        <p:nvSpPr>
          <p:cNvPr id="14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A423BC6-A896-4E4E-9088-0941D361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Decision emphasis: elevated-risk recall and balanced accuracy</a:t>
            </a:r>
          </a:p>
        </p:txBody>
      </p:sp>
      <p:sp>
        <p:nvSpPr>
          <p:cNvPr id="1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B719F6F-DAA0-42CB-B61B-ECA8B62B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718362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8590AE-C5C9-4419-860D-AE271796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Robustness checks temper confidence—not the conclusion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2B06F888-1C8D-450D-BAEC-58120724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38A6A-47E6-4B3F-B670-18D2AFCD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Overlapping targets, changing regimes, and tail errors all need explicit checks.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DDC21D-4A37-402B-85AC-849327A4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28800"/>
            <a:ext cx="11201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DA213-63FF-4148-A333-20565EFC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383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52–68%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2AB67-A805-4A09-9669-03223348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0193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NON-OVERLAPPING RECALL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70F50-05BB-4C84-B296-A574974D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802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Five offsets sample every fifth forecast window; no offset reverses the warning model's usefulness.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EB5E7-1AD7-4F8B-B18C-C91EFABB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81350"/>
            <a:ext cx="11201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569E1B-6AAA-40FA-9A9C-1D75FFE3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D8DFF"/>
                </a:solidFill>
              </a:defRPr>
            </a:pPr>
            <a:r>
              <a:rPr sz="2550" b="1">
                <a:solidFill>
                  <a:srgbClr val="3D8DFF"/>
                </a:solidFill>
              </a:rPr>
              <a:t>74.1%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21A62E-0623-43DC-823F-D9881B6C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3718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WALK-FORWARD RECALL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0BA6F-530D-4D07-AE32-434144C9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95700"/>
            <a:ext cx="802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Four expanding folds with a five-session embargo; balanced accuracy 79.3%.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EBE590-19CF-40E6-8697-5BFE418C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33900"/>
            <a:ext cx="11201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5870A3-A9B1-4E41-ADAE-B6BBE874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+8.5 pp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E93229-1198-4A5A-8FBF-A9C415EE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TOP-DECILE UNDERPREDICTION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A3BD33-8812-412B-A529-CD80C177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048250"/>
            <a:ext cx="802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Ridge understates the most volatile windows, so tail-risk decisions still require human judgment.</a:t>
            </a:r>
          </a:p>
        </p:txBody>
      </p:sp>
      <p:sp>
        <p:nvSpPr>
          <p:cNvPr id="16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9E035846-F58A-4324-B526-24817CD9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Also tested: 70%–80% risk quantiles, alternate feature windows, and outlier-flag ablation</a:t>
            </a:r>
          </a:p>
        </p:txBody>
      </p:sp>
      <p:sp>
        <p:nvSpPr>
          <p:cNvPr id="17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829962F-E949-4E0F-BEF9-D4BD1EE6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6285437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E6E17A-E71F-4788-9C2C-998651B2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Current signal is normal—not risk-free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E778ECDA-D2CD-4C6C-A76A-0F042BE9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1EA8B-9689-4C30-9625-F1B67BDB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3D8DFF"/>
                </a:solidFill>
              </a:defRPr>
            </a:pPr>
            <a:r>
              <a:rPr sz="5700" b="1">
                <a:solidFill>
                  <a:srgbClr val="3D8DFF"/>
                </a:solidFill>
              </a:rPr>
              <a:t>NORMAL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CD8AE7-6FC5-4999-87B4-6F16BAEC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As of 2026-08-17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2AD18-5BF3-4058-96B3-DF44D581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The model does not flag elevated risk; maintain exposure only within the existing mandate.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20BBF-914C-4D44-ACE9-04499E85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</a:defRPr>
            </a:pPr>
            <a:r>
              <a:rPr sz="1425" b="0">
                <a:solidFill>
                  <a:srgbClr val="5F6368"/>
                </a:solidFill>
              </a:rPr>
              <a:t>A normal signal means the model does not detect elevated relative risk under its historical definition.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695F0-D11F-4D96-AADD-ED280822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162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</a:defRPr>
            </a:pPr>
            <a:r>
              <a:rPr sz="1125" b="0">
                <a:solidFill>
                  <a:srgbClr val="5F6368"/>
                </a:solidFill>
              </a:rPr>
              <a:t>Annualized volatility (%)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6115050" y="1428750"/>
          <a:ext xmlns:a="http://schemas.openxmlformats.org/drawingml/2006/main" cx="55816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06eb0f4fa44b94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3D007B-D91C-4103-8764-80F17E37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63880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Risk score: 25.2% · elevated at 50%</a:t>
            </a:r>
          </a:p>
        </p:txBody>
      </p:sp>
      <p:sp>
        <p:nvSpPr>
          <p:cNvPr id="10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0FF25A67-2CCB-42BA-B3D7-9006C605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The signal supports review; it does not authorize a trade</a:t>
            </a:r>
          </a:p>
        </p:txBody>
      </p:sp>
      <p:sp>
        <p:nvSpPr>
          <p:cNvPr id="11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01AB558-5219-40DA-B8B0-8A4FB164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482125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5A281B-5CB0-44B0-9E76-0613DBD0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</a:defRPr>
            </a:pPr>
            <a:r>
              <a:rPr sz="2625" b="1">
                <a:solidFill>
                  <a:srgbClr val="111111"/>
                </a:solidFill>
              </a:rPr>
              <a:t>Four risks define how the signal should be used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D31152EC-2A6A-4B66-A0AB-11B7AAF9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188FE3-79C5-471C-BD5E-925F734D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38300"/>
            <a:ext cx="54673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A724C-92E2-4B19-9E6E-114B5970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REGIME CHANGE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BDA223-242A-4909-804C-F106CAF7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Historical relationships can fail when market structure shifts.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AFB97-7497-4BB2-9DE8-B8265E0D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38300"/>
            <a:ext cx="54673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8B60C8-4DB2-4075-95F6-D6D97BFD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050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FALSE REASSURANCE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A6A63F-A8CC-4E1C-8753-8367EE42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1935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Normal means not elevated by this model—not safe.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CCEB89-AA30-41D6-8D86-D773CBFA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43350"/>
            <a:ext cx="54673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CEA17-28A7-46A2-BBFE-FE4431BB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SCORE CALIBRATION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E79BFC-20C3-4F4D-B8BA-48DE7847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Class weighting makes the output a risk score—not a literal probability.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3147C5-7604-4831-8B6C-5FAA6246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43350"/>
            <a:ext cx="54673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269DBB-44AA-47DE-B9C6-4B976BAE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100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TAIL UNDERPREDICTION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1F1804-3569-4703-B8A1-468B5515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72440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Ridge understates the most volatile forecast windows.</a:t>
            </a:r>
          </a:p>
        </p:txBody>
      </p:sp>
      <p:sp>
        <p:nvSpPr>
          <p:cNvPr id="1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3DADC8E-37C2-4783-A4A6-6028795A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Mitigations: hash validation, purged tests, walk-forward checks, tail diagnostics, explicit caveats</a:t>
            </a:r>
          </a:p>
        </p:txBody>
      </p:sp>
      <p:sp>
        <p:nvSpPr>
          <p:cNvPr id="1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D636F51-E498-4D99-A99C-EBF9380F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454358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4311FE-0355-4428-B492-CD40E2EE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841F6-58B5-406B-BFDD-DC1E7980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09700"/>
            <a:ext cx="8763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Maintain exposure within the existing mandate—and keep monitoring.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950D2F-87FB-4208-8814-D8C0D628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8FF991-E860-4539-B801-9CFDCB1D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7905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F6368"/>
                </a:solidFill>
              </a:defRPr>
            </a:pPr>
            <a:r>
              <a:rPr sz="2025" b="0">
                <a:solidFill>
                  <a:srgbClr val="5F6368"/>
                </a:solidFill>
              </a:rPr>
              <a:t>Investigate exposure or hedging when the class-weighted elevated-risk score reaches 50%. Use the volatility forecast as supporting context.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2C163-892A-44CF-B499-3C2E19A2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86200"/>
            <a:ext cx="24955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552C5B-8EA4-4DAA-B4D2-F3955762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133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NEXT 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B5DAA-936B-4A2A-A64D-496C5D62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5339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Weekly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5BED7-589E-40C4-A899-C02DD0C0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626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Paritosh Dwivedi · Sole author</a:t>
            </a:r>
          </a:p>
        </p:txBody>
      </p:sp>
      <p:sp>
        <p:nvSpPr>
          <p:cNvPr id="9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AD4E124-C0A6-4A74-8A2B-1F631432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Decision support—not a guarantee or automated trade</a:t>
            </a:r>
          </a:p>
        </p:txBody>
      </p:sp>
      <p:sp>
        <p:nvSpPr>
          <p:cNvPr id="10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79B07A4-3D4D-452E-8118-2DCC76BB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439671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Paritosh Dwivedi</dc:creator>
  <lastModifiedBy>Paritosh Dwivedi</lastModifiedBy>
  <dc:title>Presentation</dc:title>
  <dcterms:created xsi:type="dcterms:W3CDTF">2026-08-18T00:29:24.7890000Z</dcterms:created>
  <dcterms:modified xsi:type="dcterms:W3CDTF">2026-08-18T00:29:24.7890000Z</dcterms:modified>
</coreProperties>
</file>