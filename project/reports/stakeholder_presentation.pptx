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SPY adjusted close</c:v>
                </c:pt>
              </c:strCache>
            </c:strRef>
          </c:tx>
          <c:spPr>
            <a:ln w="31750">
              <a:solidFill>
                <a:srgbClr val="3D8DFF"/>
              </a:solidFill>
            </a:ln>
          </c:spPr>
          <c:marker>
            <c:symbol val="none"/>
          </c:marker>
          <c:cat>
            <c:strRef>
              <c:f>Sheet1!$A$2:$A$22</c:f>
              <c:strCache>
                <c:ptCount val="21"/>
                <c:pt idx="0">
                  <c:v>2023-08</c:v>
                </c:pt>
                <c:pt idx="1">
                  <c:v>2023-10</c:v>
                </c:pt>
                <c:pt idx="2">
                  <c:v>2023-12</c:v>
                </c:pt>
                <c:pt idx="3">
                  <c:v>2024-02</c:v>
                </c:pt>
                <c:pt idx="4">
                  <c:v>2024-03</c:v>
                </c:pt>
                <c:pt idx="5">
                  <c:v>2024-05</c:v>
                </c:pt>
                <c:pt idx="6">
                  <c:v>2024-07</c:v>
                </c:pt>
                <c:pt idx="7">
                  <c:v>2024-09</c:v>
                </c:pt>
                <c:pt idx="8">
                  <c:v>2024-11</c:v>
                </c:pt>
                <c:pt idx="9">
                  <c:v>2024-12</c:v>
                </c:pt>
                <c:pt idx="10">
                  <c:v>2025-02</c:v>
                </c:pt>
                <c:pt idx="11">
                  <c:v>2025-04</c:v>
                </c:pt>
                <c:pt idx="12">
                  <c:v>2025-06</c:v>
                </c:pt>
                <c:pt idx="13">
                  <c:v>2025-08</c:v>
                </c:pt>
                <c:pt idx="14">
                  <c:v>2025-10</c:v>
                </c:pt>
                <c:pt idx="15">
                  <c:v>2025-11</c:v>
                </c:pt>
                <c:pt idx="16">
                  <c:v>2026-01</c:v>
                </c:pt>
                <c:pt idx="17">
                  <c:v>2026-03</c:v>
                </c:pt>
                <c:pt idx="18">
                  <c:v>2026-05</c:v>
                </c:pt>
                <c:pt idx="19">
                  <c:v>2026-07</c:v>
                </c:pt>
                <c:pt idx="20">
                  <c:v>2026-08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423.2596435546875</c:v>
                </c:pt>
                <c:pt idx="1">
                  <c:v>417.1728210449219</c:v>
                </c:pt>
                <c:pt idx="2">
                  <c:v>443.01531982421875</c:v>
                </c:pt>
                <c:pt idx="3">
                  <c:v>479.873779296875</c:v>
                </c:pt>
                <c:pt idx="4">
                  <c:v>509.33026123046875</c:v>
                </c:pt>
                <c:pt idx="5">
                  <c:v>515.912841796875</c:v>
                </c:pt>
                <c:pt idx="6">
                  <c:v>539.8790893554688</c:v>
                </c:pt>
                <c:pt idx="7">
                  <c:v>541.5985717773438</c:v>
                </c:pt>
                <c:pt idx="8">
                  <c:v>558.3399658203125</c:v>
                </c:pt>
                <c:pt idx="9">
                  <c:v>578.3192138671875</c:v>
                </c:pt>
                <c:pt idx="10">
                  <c:v>584.5328369140625</c:v>
                </c:pt>
                <c:pt idx="11">
                  <c:v>519.9349365234375</c:v>
                </c:pt>
                <c:pt idx="12">
                  <c:v>594.3182983398438</c:v>
                </c:pt>
                <c:pt idx="13">
                  <c:v>628.9509887695312</c:v>
                </c:pt>
                <c:pt idx="14">
                  <c:v>663.7112426757812</c:v>
                </c:pt>
                <c:pt idx="15">
                  <c:v>674.09521484375</c:v>
                </c:pt>
                <c:pt idx="16">
                  <c:v>685.5865478515625</c:v>
                </c:pt>
                <c:pt idx="17">
                  <c:v>656.3121337890625</c:v>
                </c:pt>
                <c:pt idx="18">
                  <c:v>740.4025268554688</c:v>
                </c:pt>
                <c:pt idx="19">
                  <c:v>751.7100219726562</c:v>
                </c:pt>
                <c:pt idx="20">
                  <c:v>765.9099731445312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100">
                <a:solidFill>
                  <a:srgbClr val="5F636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DEDED"/>
              </a:solidFill>
            </a:ln>
          </c:spPr>
        </c:majorGridlines>
        <c:numFmt formatCode="$0" sourceLinked="0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SPY adjusted close</c:v>
                </c:pt>
              </c:strCache>
            </c:strRef>
          </c:tx>
          <c:spPr>
            <a:ln w="31750">
              <a:solidFill>
                <a:srgbClr val="3D8DFF"/>
              </a:solidFill>
            </a:ln>
          </c:spPr>
          <c:marker>
            <c:symbol val="circle"/>
            <c:size val="4"/>
            <c:spPr>
              <a:solidFill>
                <a:srgbClr val="3D8DFF"/>
              </a:solidFill>
              <a:ln>
                <a:solidFill>
                  <a:srgbClr val="3D8DFF"/>
                </a:solidFill>
              </a:ln>
            </c:spPr>
          </c:marker>
          <c:cat>
            <c:strRef>
              <c:f>Sheet1!$A$2:$A$24</c:f>
              <c:strCache>
                <c:ptCount val="23"/>
                <c:pt idx="0">
                  <c:v>2010-01</c:v>
                </c:pt>
                <c:pt idx="1">
                  <c:v>2010-10</c:v>
                </c:pt>
                <c:pt idx="2">
                  <c:v>2011-07</c:v>
                </c:pt>
                <c:pt idx="3">
                  <c:v>2012-04</c:v>
                </c:pt>
                <c:pt idx="4">
                  <c:v>2013-01</c:v>
                </c:pt>
                <c:pt idx="5">
                  <c:v>2013-10</c:v>
                </c:pt>
                <c:pt idx="6">
                  <c:v>2014-07</c:v>
                </c:pt>
                <c:pt idx="7">
                  <c:v>2015-04</c:v>
                </c:pt>
                <c:pt idx="8">
                  <c:v>2016-01</c:v>
                </c:pt>
                <c:pt idx="9">
                  <c:v>2016-10</c:v>
                </c:pt>
                <c:pt idx="10">
                  <c:v>2017-08</c:v>
                </c:pt>
                <c:pt idx="11">
                  <c:v>2018-05</c:v>
                </c:pt>
                <c:pt idx="12">
                  <c:v>2019-02</c:v>
                </c:pt>
                <c:pt idx="13">
                  <c:v>2019-11</c:v>
                </c:pt>
                <c:pt idx="14">
                  <c:v>2020-08</c:v>
                </c:pt>
                <c:pt idx="15">
                  <c:v>2021-05</c:v>
                </c:pt>
                <c:pt idx="16">
                  <c:v>2022-02</c:v>
                </c:pt>
                <c:pt idx="17">
                  <c:v>2022-11</c:v>
                </c:pt>
                <c:pt idx="18">
                  <c:v>2023-08</c:v>
                </c:pt>
                <c:pt idx="19">
                  <c:v>2024-06</c:v>
                </c:pt>
                <c:pt idx="20">
                  <c:v>2025-03</c:v>
                </c:pt>
                <c:pt idx="21">
                  <c:v>2025-12</c:v>
                </c:pt>
                <c:pt idx="22">
                  <c:v>2026-08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84.57847595214844</c:v>
                </c:pt>
                <c:pt idx="1">
                  <c:v>87.83148956298828</c:v>
                </c:pt>
                <c:pt idx="2">
                  <c:v>101.35924530029297</c:v>
                </c:pt>
                <c:pt idx="3">
                  <c:v>108.30091857910156</c:v>
                </c:pt>
                <c:pt idx="4">
                  <c:v>116.77906799316406</c:v>
                </c:pt>
                <c:pt idx="5">
                  <c:v>140.52471923828125</c:v>
                </c:pt>
                <c:pt idx="6">
                  <c:v>162.42758178710938</c:v>
                </c:pt>
                <c:pt idx="7">
                  <c:v>175.43174743652344</c:v>
                </c:pt>
                <c:pt idx="8">
                  <c:v>163.31724548339844</c:v>
                </c:pt>
                <c:pt idx="9">
                  <c:v>181.96746826171875</c:v>
                </c:pt>
                <c:pt idx="10">
                  <c:v>215.03053283691406</c:v>
                </c:pt>
                <c:pt idx="11">
                  <c:v>237.54275512695312</c:v>
                </c:pt>
                <c:pt idx="12">
                  <c:v>245.2042999267578</c:v>
                </c:pt>
                <c:pt idx="13">
                  <c:v>280.3722229003906</c:v>
                </c:pt>
                <c:pt idx="14">
                  <c:v>311.85833740234375</c:v>
                </c:pt>
                <c:pt idx="15">
                  <c:v>386.55108642578125</c:v>
                </c:pt>
                <c:pt idx="16">
                  <c:v>397.0208435058594</c:v>
                </c:pt>
                <c:pt idx="17">
                  <c:v>382.9429931640625</c:v>
                </c:pt>
                <c:pt idx="18">
                  <c:v>433.8665771484375</c:v>
                </c:pt>
                <c:pt idx="19">
                  <c:v>520.6256713867188</c:v>
                </c:pt>
                <c:pt idx="20">
                  <c:v>549.4632568359375</c:v>
                </c:pt>
                <c:pt idx="21">
                  <c:v>676.1581420898438</c:v>
                </c:pt>
                <c:pt idx="22">
                  <c:v>765.9099731445312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100">
                <a:solidFill>
                  <a:srgbClr val="5F6368"/>
                </a:solidFill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>
          <c:spPr>
            <a:ln w="9525">
              <a:solidFill>
                <a:srgbClr val="EDEDED"/>
              </a:solidFill>
            </a:ln>
          </c:spPr>
        </c:majorGridlines>
        <c:numFmt formatCode="$0" sourceLinked="0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Ridge</c:v>
                </c:pt>
              </c:strCache>
            </c:strRef>
          </c:tx>
          <c:spPr>
            <a:solidFill>
              <a:srgbClr val="3D8DFF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3.990764204608996</c:v>
                </c:pt>
                <c:pt idx="1">
                  <c:v>6.556949092920923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Recent-vol baseline</c:v>
                </c:pt>
              </c:strCache>
            </c:strRef>
          </c:tx>
          <c:spPr>
            <a:solidFill>
              <a:srgbClr val="6DCBF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5.063987670794168</c:v>
                </c:pt>
                <c:pt idx="1">
                  <c:v>8.626174723041489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Historical mean</c:v>
                </c:pt>
              </c:strCache>
            </c:strRef>
          </c:tx>
          <c:spPr>
            <a:solidFill>
              <a:srgbClr val="B8BCC4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MAE</c:v>
                </c:pt>
                <c:pt idx="1">
                  <c:v>RMSE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5.158660985550454</c:v>
                </c:pt>
                <c:pt idx="1">
                  <c:v>8.1947443672594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1111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100">
                <a:solidFill>
                  <a:srgbClr val="5F636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DEDED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solidFill>
                <a:srgbClr val="5F6368"/>
              </a:solidFill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risk model</c:v>
                </c:pt>
              </c:strCache>
            </c:strRef>
          </c:tx>
          <c:spPr>
            <a:solidFill>
              <a:srgbClr val="3D8DFF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Balanced accuracy</c:v>
                </c:pt>
                <c:pt idx="1">
                  <c:v>Precision</c:v>
                </c:pt>
                <c:pt idx="2">
                  <c:v>Recall</c:v>
                </c:pt>
                <c:pt idx="3">
                  <c:v>ROC AUC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72.39781103417468</c:v>
                </c:pt>
                <c:pt idx="1">
                  <c:v>37.22222222222222</c:v>
                </c:pt>
                <c:pt idx="2">
                  <c:v>60.36036036036037</c:v>
                </c:pt>
                <c:pt idx="3">
                  <c:v>77.85347330801876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1100">
                  <a:solidFill>
                    <a:srgbClr val="11111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100">
                <a:solidFill>
                  <a:srgbClr val="5F636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 w="9525">
              <a:solidFill>
                <a:srgbClr val="EDEDED"/>
              </a:solidFill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Annualized volatility</c:v>
                </c:pt>
              </c:strCache>
            </c:strRef>
          </c:tx>
          <c:spPr>
            <a:solidFill>
              <a:srgbClr val="3D8DFF"/>
            </a:solidFill>
            <a:ln>
              <a:noFill/>
            </a:ln>
          </c:spPr>
          <c:dPt>
            <c:idx val="2"/>
            <c:spPr>
              <a:solidFill>
                <a:srgbClr val="D92D20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20-day actual</c:v>
                </c:pt>
                <c:pt idx="1">
                  <c:v>Five-session forecast</c:v>
                </c:pt>
                <c:pt idx="2">
                  <c:v>Risk threshold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13.253763789870987</c:v>
                </c:pt>
                <c:pt idx="1">
                  <c:v>11.25118123222827</c:v>
                </c:pt>
                <c:pt idx="2">
                  <c:v>17.136329245241306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100">
                  <a:solidFill>
                    <a:srgbClr val="111111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100">
                <a:solidFill>
                  <a:srgbClr val="5F6368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2.0"/>
          <c:min val="0.0"/>
        </c:scaling>
        <c:delete val="0"/>
        <c:axPos val="l"/>
        <c:majorGridlines>
          <c:spPr>
            <a:ln w="9525">
              <a:solidFill>
                <a:srgbClr val="EDEDED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solidFill>
              <a:srgbClr val="B8BCC4"/>
            </a:solidFill>
          </a:ln>
        </c:spPr>
        <c:txPr>
          <a:bodyPr/>
          <a:lstStyle/>
          <a:p>
            <a:pPr>
              <a:defRPr sz="1000">
                <a:solidFill>
                  <a:srgbClr val="5F6368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project/data/raw/spy_daily_20260826T030031701985Z.csv</a:t>
            </a:r>
          </a:p>
          <a:p>
            <a:r>
              <a:t>- project/reports/metrics.json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project/README.md</a:t>
            </a:r>
          </a:p>
          <a:p>
            <a:r>
              <a:t>- project/docs/decision_log.md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project/data/raw/spy_daily_20260826T030031701985Z.manifest.json</a:t>
            </a:r>
          </a:p>
          <a:p>
            <a:r>
              <a:t>- project/reports/metrics.json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project/src/features.py</a:t>
            </a:r>
          </a:p>
          <a:p>
            <a:r>
              <a:t>- project/src/modeling.py</a:t>
            </a:r>
          </a:p>
          <a:p>
            <a:r>
              <a:t>- project/docs/decision_log.md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project/reports/metrics.json</a:t>
            </a:r>
          </a:p>
          <a:p>
            <a:r>
              <a:t>- project/reports/model_predictions.csv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project/reports/metrics.json</a:t>
            </a:r>
          </a:p>
          <a:p>
            <a:r>
              <a:t>- project/reports/model_predictions.csv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project/reports/metrics.json</a:t>
            </a:r>
          </a:p>
          <a:p>
            <a:r>
              <a:t>- project/reports/risk_threshold_sensitivity.csv</a:t>
            </a:r>
          </a:p>
          <a:p>
            <a:r>
              <a:t>- project/reports/feature_window_sensitivity.csv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project/reports/metrics.json</a:t>
            </a:r>
          </a:p>
          <a:p>
            <a:r>
              <a:t>- project/reports/final_summary.md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project/docs/assumptions_and_risks.md</a:t>
            </a:r>
          </a:p>
          <a:p>
            <a:r>
              <a:t>- project/docs/decision_log.md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project/reports/final_summary.md</a:t>
            </a:r>
          </a:p>
          <a:p>
            <a:r>
              <a:t>- project/reports/metrics.json</a:t>
            </a:r>
          </a:p>
          <a:p>
            <a:r>
              <a:t>- project/README.md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299" y="400050"/>
            <a:ext cx="53340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D8DFF"/>
                </a:solidFill>
                <a:latin typeface="Arial"/>
              </a:defRPr>
            </a:pPr>
            <a:r>
              <a:t>FRE-GY 5040 · APPLIED FINANCIAL ENGINEERING</a:t>
            </a:r>
          </a:p>
        </p:txBody>
      </p:sp>
      <p:sp>
        <p:nvSpPr>
          <p:cNvPr id="3" name="deck-title"/>
          <p:cNvSpPr txBox="1"/>
          <p:nvPr/>
        </p:nvSpPr>
        <p:spPr>
          <a:xfrm>
            <a:off x="495299" y="1466850"/>
            <a:ext cx="4953000" cy="1695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111111"/>
                </a:solidFill>
                <a:latin typeface="Arial"/>
              </a:defRPr>
            </a:pPr>
            <a:r>
              <a:t>Weekly ETF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111111"/>
                </a:solidFill>
                <a:latin typeface="Arial"/>
              </a:defRPr>
            </a:pPr>
            <a:r>
              <a:t>Risk Monitor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5299" y="3448050"/>
            <a:ext cx="4857750" cy="8763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5F6368"/>
                </a:solidFill>
                <a:latin typeface="Arial"/>
              </a:defRPr>
            </a:pPr>
            <a:r>
              <a:t>A reproducible SPY signal for the portfolio manager's weekly risk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299" y="5181600"/>
            <a:ext cx="45720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Paritosh Dwivedi · Author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Data through August 25,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0" y="400050"/>
            <a:ext cx="5600700" cy="56007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19850" y="952500"/>
          <a:ext cx="4953000" cy="43243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67500" y="5391150"/>
            <a:ext cx="445770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Recent 756 validated trading sessions</a:t>
            </a:r>
          </a:p>
        </p:txBody>
      </p:sp>
      <p:sp>
        <p:nvSpPr>
          <p:cNvPr id="9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Source: immutable SPY raw snapshot and project metrics</a:t>
            </a:r>
          </a:p>
        </p:txBody>
      </p:sp>
      <p:sp>
        <p:nvSpPr>
          <p:cNvPr id="10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11111"/>
                </a:solidFill>
                <a:latin typeface="Arial"/>
              </a:defRPr>
            </a:pPr>
            <a:r>
              <a:t>One weekly question drives the entire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52450" y="1562100"/>
            <a:ext cx="5219700" cy="2571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Should the portfolio manager maintain SPY exposure—or investigate reducing it because near-term risk appears elevated?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29350" y="1466850"/>
            <a:ext cx="5467350" cy="4190999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91300" y="1771650"/>
            <a:ext cx="4572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D8DFF"/>
                </a:solidFill>
                <a:latin typeface="Arial"/>
              </a:defRPr>
            </a:pPr>
            <a:r>
              <a:t>THE USEFUL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10350" y="23431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D8D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81850" y="2343150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Arial"/>
              </a:defRPr>
            </a:pPr>
            <a:r>
              <a:t>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81850" y="2686050"/>
            <a:ext cx="381000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F6368"/>
                </a:solidFill>
                <a:latin typeface="Arial"/>
              </a:defRPr>
            </a:pPr>
            <a:r>
              <a:t>Next-five-session annualized volatility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33337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D8D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81850" y="3333750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Arial"/>
              </a:defRPr>
            </a:pPr>
            <a:r>
              <a:t>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81850" y="3676649"/>
            <a:ext cx="381000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F6368"/>
                </a:solidFill>
                <a:latin typeface="Arial"/>
              </a:defRPr>
            </a:pPr>
            <a:r>
              <a:t>Class-weighted risk score—not a literal probability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0350" y="4324350"/>
            <a:ext cx="41910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D8D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1850" y="4324350"/>
            <a:ext cx="2095499" cy="304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81850" y="4667250"/>
            <a:ext cx="3810000" cy="5143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F6368"/>
                </a:solidFill>
                <a:latin typeface="Arial"/>
              </a:defRPr>
            </a:pPr>
            <a:r>
              <a:t>Action language plus assumptions and limits</a:t>
            </a:r>
          </a:p>
        </p:txBody>
      </p:sp>
      <p:sp>
        <p:nvSpPr>
          <p:cNvPr id="16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Decision support—not automated trading advice</a:t>
            </a:r>
          </a:p>
        </p:txBody>
      </p:sp>
      <p:sp>
        <p:nvSpPr>
          <p:cNvPr id="17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11111"/>
                </a:solidFill>
                <a:latin typeface="Arial"/>
              </a:defRPr>
            </a:pPr>
            <a:r>
              <a:t>4,186 validated trading days anchor the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hart-window-label"/>
          <p:cNvSpPr txBox="1"/>
          <p:nvPr/>
        </p:nvSpPr>
        <p:spPr>
          <a:xfrm>
            <a:off x="495299" y="1143000"/>
            <a:ext cx="72390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F6368"/>
                </a:solidFill>
                <a:latin typeface="Arial"/>
              </a:defRPr>
            </a:pPr>
            <a:r>
              <a:t>SPY adjusted close · full validated history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95299" y="1428750"/>
          <a:ext cx="7239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191500" y="1428750"/>
            <a:ext cx="2476500" cy="1352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91500" y="1428750"/>
            <a:ext cx="76200" cy="13525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39150" y="160020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4,186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9150" y="2066924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Arial"/>
              </a:defRPr>
            </a:pPr>
            <a:r>
              <a:t>OBSERVATIONS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9150" y="237172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Daily SPY rows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1500" y="2990850"/>
            <a:ext cx="2476500" cy="1352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91500" y="2990850"/>
            <a:ext cx="76200" cy="1352550"/>
          </a:xfrm>
          <a:prstGeom prst="rect">
            <a:avLst/>
          </a:prstGeom>
          <a:solidFill>
            <a:srgbClr val="6DC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9150" y="316230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16.6 yrs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150" y="3629025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Arial"/>
              </a:defRPr>
            </a:pPr>
            <a:r>
              <a:t>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150" y="3933824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2010-01-04 to 2026-08-25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1500" y="4552950"/>
            <a:ext cx="2476500" cy="1352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1500" y="4552950"/>
            <a:ext cx="76200" cy="13525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9150" y="472440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9150" y="5191125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Arial"/>
              </a:defRPr>
            </a:pPr>
            <a:r>
              <a:t>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150" y="549592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Missing required values or duplicates</a:t>
            </a:r>
          </a:p>
        </p:txBody>
      </p:sp>
      <p:sp>
        <p:nvSpPr>
          <p:cNvPr id="21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Source: yfinance fallback; immutable CSV + SHA-256 manifest</a:t>
            </a:r>
          </a:p>
        </p:txBody>
      </p:sp>
      <p:sp>
        <p:nvSpPr>
          <p:cNvPr id="22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11111"/>
                </a:solidFill>
                <a:latin typeface="Arial"/>
              </a:defRPr>
            </a:pPr>
            <a:r>
              <a:t>Every feature is available before the forecast window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299" y="2000250"/>
            <a:ext cx="2305050" cy="27813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3900" y="2305050"/>
            <a:ext cx="1847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1"/>
                </a:solidFill>
                <a:latin typeface="Arial"/>
              </a:defRPr>
            </a:pPr>
            <a:r>
              <a:t>1 ·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086100"/>
            <a:ext cx="18478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Immutable daily prices and 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5600" y="3028950"/>
            <a:ext cx="32385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D8D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4700" y="2000250"/>
            <a:ext cx="2305050" cy="27813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3300" y="2305050"/>
            <a:ext cx="1847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1"/>
                </a:solidFill>
                <a:latin typeface="Arial"/>
              </a:defRPr>
            </a:pPr>
            <a:r>
              <a:t>2 · TRAILING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3300" y="3086100"/>
            <a:ext cx="18478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Returns, volatility, drawdown,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3028950"/>
            <a:ext cx="32385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D8D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34100" y="2000250"/>
            <a:ext cx="2305050" cy="27813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2700" y="2305050"/>
            <a:ext cx="1847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3D8DFF"/>
                </a:solidFill>
                <a:latin typeface="Arial"/>
              </a:defRPr>
            </a:pPr>
            <a:r>
              <a:t>3 · FUTURE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3086100"/>
            <a:ext cx="18478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Next five trading days of realized volatility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0" y="3028950"/>
            <a:ext cx="323850" cy="419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D8DF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3500" y="2000250"/>
            <a:ext cx="2305050" cy="27813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2100" y="2305050"/>
            <a:ext cx="18478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11111"/>
                </a:solidFill>
                <a:latin typeface="Arial"/>
              </a:defRPr>
            </a:pPr>
            <a:r>
              <a:t>4 · LATER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2100" y="3086100"/>
            <a:ext cx="1847850" cy="1009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Chronological out-of-sample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299" y="5219700"/>
            <a:ext cx="10668000" cy="590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111111"/>
                </a:solidFill>
                <a:latin typeface="Arial"/>
              </a:defRPr>
            </a:pPr>
            <a:r>
              <a:t>Leakage control: threshold and outlier parameters use training data only; 5 sessions are embargoed.</a:t>
            </a:r>
          </a:p>
        </p:txBody>
      </p:sp>
      <p:sp>
        <p:nvSpPr>
          <p:cNvPr id="20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Method: five-session horizon, trailing features, purged chronological 80/20 split</a:t>
            </a:r>
          </a:p>
        </p:txBody>
      </p:sp>
      <p:sp>
        <p:nvSpPr>
          <p:cNvPr id="21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11111"/>
                </a:solidFill>
                <a:latin typeface="Arial"/>
              </a:defRPr>
            </a:pPr>
            <a:r>
              <a:t>Ridge cut forecast MAE by 21.2% versus recent volatility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5299" y="1200150"/>
            <a:ext cx="49530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Annualized volatility error (percentage points)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95299" y="1524000"/>
          <a:ext cx="6858000" cy="43624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8020050" y="1524000"/>
            <a:ext cx="2476500" cy="1352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20050" y="1524000"/>
            <a:ext cx="76200" cy="13525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67699" y="169545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3.99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67699" y="2162175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Arial"/>
              </a:defRPr>
            </a:pPr>
            <a:r>
              <a:t>RIDGE 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67699" y="246697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Annualized-vol error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20050" y="3086100"/>
            <a:ext cx="2476500" cy="1352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20050" y="3086100"/>
            <a:ext cx="76200" cy="1352550"/>
          </a:xfrm>
          <a:prstGeom prst="rect">
            <a:avLst/>
          </a:prstGeom>
          <a:solidFill>
            <a:srgbClr val="6DC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7699" y="325755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0.338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7699" y="3724275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Arial"/>
              </a:defRPr>
            </a:pPr>
            <a:r>
              <a:t>R-SQUARED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7699" y="402907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Out-of-sample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20050" y="4648200"/>
            <a:ext cx="2476500" cy="1352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0050" y="4648200"/>
            <a:ext cx="76200" cy="1352550"/>
          </a:xfrm>
          <a:prstGeom prst="rect">
            <a:avLst/>
          </a:prstGeom>
          <a:solidFill>
            <a:srgbClr val="3D8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67699" y="4819650"/>
            <a:ext cx="2000250" cy="476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21.2%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7699" y="5286375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11111"/>
                </a:solidFill>
                <a:latin typeface="Arial"/>
              </a:defRPr>
            </a:pPr>
            <a:r>
              <a:t>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7699" y="5591175"/>
            <a:ext cx="2000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Versus recent-vol MAE</a:t>
            </a:r>
          </a:p>
        </p:txBody>
      </p:sp>
      <p:sp>
        <p:nvSpPr>
          <p:cNvPr id="21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Test period: 2023-04-18 to 2026-08-18</a:t>
            </a:r>
          </a:p>
        </p:txBody>
      </p:sp>
      <p:sp>
        <p:nvSpPr>
          <p:cNvPr id="22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11111"/>
                </a:solidFill>
                <a:latin typeface="Arial"/>
              </a:defRPr>
            </a:pPr>
            <a:r>
              <a:t>The warning model catches 60% of elevated-risk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95299" y="1562100"/>
          <a:ext cx="6934200" cy="42862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7943850" y="1581150"/>
            <a:ext cx="3752850" cy="17907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67699" y="1847850"/>
            <a:ext cx="952500" cy="5524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3D8DFF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67699" y="2447925"/>
            <a:ext cx="29527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1"/>
                </a:solidFill>
                <a:latin typeface="Arial"/>
              </a:defRPr>
            </a:pPr>
            <a:r>
              <a:t>elevated-risk windows caught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67699" y="2914650"/>
            <a:ext cx="29527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F6368"/>
                </a:solidFill>
                <a:latin typeface="Arial"/>
              </a:defRPr>
            </a:pPr>
            <a:r>
              <a:t>44 elevated-risk windows were missed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43850" y="3857625"/>
            <a:ext cx="3333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11111"/>
                </a:solidFill>
                <a:latin typeface="Arial"/>
              </a:defRPr>
            </a:pPr>
            <a:r>
              <a:t>Why balanced accuracy?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43850" y="4305300"/>
            <a:ext cx="3638550" cy="12001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F6368"/>
                </a:solidFill>
                <a:latin typeface="Arial"/>
              </a:defRPr>
            </a:pPr>
            <a:r>
              <a:t>Elevated-risk windows are only 13.3% of the holdout. The prior baseline predicts only the majority class and catches zero elevated-risk windows.</a:t>
            </a:r>
          </a:p>
        </p:txBody>
      </p:sp>
      <p:sp>
        <p:nvSpPr>
          <p:cNvPr id="11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Decision emphasis: elevated-risk recall and balanced accuracy</a:t>
            </a:r>
          </a:p>
        </p:txBody>
      </p:sp>
      <p:sp>
        <p:nvSpPr>
          <p:cNvPr id="12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11111"/>
                </a:solidFill>
                <a:latin typeface="Arial"/>
              </a:defRPr>
            </a:pPr>
            <a:r>
              <a:t>Robustness checks temper confidence—not the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5299" y="1200150"/>
            <a:ext cx="1066800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5F6368"/>
                </a:solidFill>
                <a:latin typeface="Arial"/>
              </a:defRPr>
            </a:pPr>
            <a:r>
              <a:t>Overlapping targets, changing regimes, and tail errors all need explicit checks.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299" y="1676400"/>
            <a:ext cx="1120140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2950" y="1866899"/>
            <a:ext cx="2133600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52–68%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1350" y="1819275"/>
            <a:ext cx="3714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Arial"/>
              </a:defRPr>
            </a:pPr>
            <a:r>
              <a:t>NON-OVERLAPPING 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1350" y="2143125"/>
            <a:ext cx="80200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F6368"/>
                </a:solidFill>
                <a:latin typeface="Arial"/>
              </a:defRPr>
            </a:pPr>
            <a:r>
              <a:t>5 offsets sample every fifth forecast window; no offset reverses the warning model's usefulness.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95299" y="2752725"/>
            <a:ext cx="1120140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2950" y="2943225"/>
            <a:ext cx="2133600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33–83%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1350" y="2895600"/>
            <a:ext cx="3714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Arial"/>
              </a:defRPr>
            </a:pPr>
            <a:r>
              <a:t>CALENDAR-YEAR 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1350" y="3219450"/>
            <a:ext cx="80200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F6368"/>
                </a:solidFill>
                <a:latin typeface="Arial"/>
              </a:defRPr>
            </a:pPr>
            <a:r>
              <a:t>Recall varies from 2024 to 2025, confirming that market regimes materially affect detection.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5299" y="3829050"/>
            <a:ext cx="11201400" cy="9144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2950" y="4019549"/>
            <a:ext cx="2133600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3D8DFF"/>
                </a:solidFill>
                <a:latin typeface="Arial"/>
              </a:defRPr>
            </a:pPr>
            <a:r>
              <a:t>73.9%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81350" y="3971925"/>
            <a:ext cx="3714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Arial"/>
              </a:defRPr>
            </a:pPr>
            <a:r>
              <a:t>WALK-FORWARD 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1350" y="4295775"/>
            <a:ext cx="80200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F6368"/>
                </a:solidFill>
                <a:latin typeface="Arial"/>
              </a:defRPr>
            </a:pPr>
            <a:r>
              <a:t>4 expanding folds with a 5-session embargo; balanced accuracy 79.1%.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299" y="4905375"/>
            <a:ext cx="11201400" cy="9144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2950" y="5095875"/>
            <a:ext cx="2133600" cy="4952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11111"/>
                </a:solidFill>
                <a:latin typeface="Arial"/>
              </a:defRPr>
            </a:pPr>
            <a:r>
              <a:t>+8.5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1350" y="5048250"/>
            <a:ext cx="3714750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11111"/>
                </a:solidFill>
                <a:latin typeface="Arial"/>
              </a:defRPr>
            </a:pPr>
            <a:r>
              <a:t>TOP-DECILE UNDERPREDICTION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81350" y="5372100"/>
            <a:ext cx="8020050" cy="400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F6368"/>
                </a:solidFill>
                <a:latin typeface="Arial"/>
              </a:defRPr>
            </a:pPr>
            <a:r>
              <a:t>Ridge understates the most volatile windows, so tail-risk decisions still require human judgment.</a:t>
            </a:r>
          </a:p>
        </p:txBody>
      </p:sp>
      <p:sp>
        <p:nvSpPr>
          <p:cNvPr id="21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Also tested: 70%–80% risk quantiles, 3 feature-window specifications, and outlier-flag ablation</a:t>
            </a:r>
          </a:p>
        </p:txBody>
      </p:sp>
      <p:sp>
        <p:nvSpPr>
          <p:cNvPr id="22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11111"/>
                </a:solidFill>
                <a:latin typeface="Arial"/>
              </a:defRPr>
            </a:pPr>
            <a:r>
              <a:t>Current signal is normal—not risk-free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95299" y="1371600"/>
            <a:ext cx="4953000" cy="9905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600" b="1">
                <a:solidFill>
                  <a:srgbClr val="3D8DFF"/>
                </a:solidFill>
                <a:latin typeface="Arial"/>
              </a:defRPr>
            </a:pPr>
            <a:r>
              <a:t>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419350"/>
            <a:ext cx="342900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As of 2026-08-25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2450" y="3276600"/>
            <a:ext cx="4762500" cy="12382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11111"/>
                </a:solidFill>
                <a:latin typeface="Arial"/>
              </a:defRPr>
            </a:pPr>
            <a:r>
              <a:t>The model does not flag elevated risk; maintain exposure only within the existing mandate.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2450" y="4838700"/>
            <a:ext cx="4762500" cy="7810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5F6368"/>
                </a:solidFill>
                <a:latin typeface="Arial"/>
              </a:defRPr>
            </a:pPr>
            <a:r>
              <a:t>A normal signal means the model does not detect elevated relative risk under its historical definition.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15050" y="1162050"/>
            <a:ext cx="285750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F6368"/>
                </a:solidFill>
                <a:latin typeface="Arial"/>
              </a:defRPr>
            </a:pPr>
            <a:r>
              <a:t>Annualized volatility (%)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15050" y="1428750"/>
          <a:ext cx="5581650" cy="4095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5638800"/>
            <a:ext cx="50482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1"/>
                </a:solidFill>
                <a:latin typeface="Arial"/>
              </a:defRPr>
            </a:pPr>
            <a:r>
              <a:t>Risk score: 25.1% · elevated at 50%</a:t>
            </a:r>
          </a:p>
        </p:txBody>
      </p:sp>
      <p:sp>
        <p:nvSpPr>
          <p:cNvPr id="11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The signal supports review; it does not authorize a trade</a:t>
            </a:r>
          </a:p>
        </p:txBody>
      </p:sp>
      <p:sp>
        <p:nvSpPr>
          <p:cNvPr id="12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95299" y="342900"/>
            <a:ext cx="1120140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11111"/>
                </a:solidFill>
                <a:latin typeface="Arial"/>
              </a:defRPr>
            </a:pPr>
            <a:r>
              <a:t>Four risks define how the signal should be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299" y="10287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5299" y="1638300"/>
            <a:ext cx="5467350" cy="1714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1905000"/>
            <a:ext cx="4857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1"/>
                </a:solidFill>
                <a:latin typeface="Arial"/>
              </a:defRPr>
            </a:pPr>
            <a:r>
              <a:t>REGIME 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419350"/>
            <a:ext cx="485775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Historical relationships can fail when market structure shifts.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29350" y="1638300"/>
            <a:ext cx="5467350" cy="171450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6050" y="1905000"/>
            <a:ext cx="4857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D8DFF"/>
                </a:solidFill>
                <a:latin typeface="Arial"/>
              </a:defRPr>
            </a:pPr>
            <a:r>
              <a:t>FALSE REASSURANCE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6050" y="2419350"/>
            <a:ext cx="485775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Normal means not elevated by this model—not safe.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5299" y="3943350"/>
            <a:ext cx="5467350" cy="1714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4210050"/>
            <a:ext cx="4857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1"/>
                </a:solidFill>
                <a:latin typeface="Arial"/>
              </a:defRPr>
            </a:pPr>
            <a:r>
              <a:t>SCORE MISCALIBRATION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724400"/>
            <a:ext cx="485775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Class weighting makes the output a risk score—not a literal probability.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9350" y="3943350"/>
            <a:ext cx="5467350" cy="17145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6050" y="4210050"/>
            <a:ext cx="4857750" cy="323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11111"/>
                </a:solidFill>
                <a:latin typeface="Arial"/>
              </a:defRPr>
            </a:pPr>
            <a:r>
              <a:t>TAIL UNDERPREDICTION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6050" y="4724400"/>
            <a:ext cx="4857750" cy="628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F6368"/>
                </a:solidFill>
                <a:latin typeface="Arial"/>
              </a:defRPr>
            </a:pPr>
            <a:r>
              <a:t>Ridge understates the most volatile forecast windows.</a:t>
            </a:r>
          </a:p>
        </p:txBody>
      </p:sp>
      <p:sp>
        <p:nvSpPr>
          <p:cNvPr id="16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Mitigations: hash validation, purged tests, walk-forward checks, tail diagnostics, explicit caveats</a:t>
            </a:r>
          </a:p>
        </p:txBody>
      </p:sp>
      <p:sp>
        <p:nvSpPr>
          <p:cNvPr id="17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5299" y="533400"/>
            <a:ext cx="2095499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D8DFF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5299" y="1200150"/>
            <a:ext cx="8763000" cy="18668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600" b="1">
                <a:solidFill>
                  <a:srgbClr val="111111"/>
                </a:solidFill>
                <a:latin typeface="Arial"/>
              </a:defRPr>
            </a:pPr>
            <a:r>
              <a:t>The model does not flag elevated risk; maintain exposure only within the existing mandate.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299" y="3390900"/>
            <a:ext cx="11201400" cy="9525"/>
          </a:xfrm>
          <a:prstGeom prst="rect">
            <a:avLst/>
          </a:prstGeom>
          <a:solidFill>
            <a:srgbClr val="B8B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5299" y="3886200"/>
            <a:ext cx="7905750" cy="1104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5F6368"/>
                </a:solidFill>
                <a:latin typeface="Arial"/>
              </a:defRPr>
            </a:pPr>
            <a:r>
              <a:t>Investigate exposure or hedging when the class-weighted elevated-risk score reaches 50%. Use the volatility forecast as supporting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9201150" y="3886200"/>
            <a:ext cx="2495550" cy="1352550"/>
          </a:xfrm>
          <a:prstGeom prst="rect">
            <a:avLst/>
          </a:prstGeom>
          <a:solidFill>
            <a:srgbClr val="EA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67850" y="4133849"/>
            <a:ext cx="2000250" cy="2667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D8DFF"/>
                </a:solidFill>
                <a:latin typeface="Arial"/>
              </a:defRPr>
            </a:pPr>
            <a:r>
              <a:t>NEXT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67850" y="4533900"/>
            <a:ext cx="200025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111111"/>
                </a:solidFill>
                <a:latin typeface="Arial"/>
              </a:defRPr>
            </a:pPr>
            <a:r>
              <a:t>Weekly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299" y="5962650"/>
            <a:ext cx="4190999" cy="2857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11111"/>
                </a:solidFill>
                <a:latin typeface="Arial"/>
              </a:defRPr>
            </a:pPr>
            <a:r>
              <a:t>Paritosh Dwivedi · Author</a:t>
            </a:r>
          </a:p>
        </p:txBody>
      </p:sp>
      <p:sp>
        <p:nvSpPr>
          <p:cNvPr id="10" name="source-footer"/>
          <p:cNvSpPr txBox="1"/>
          <p:nvPr/>
        </p:nvSpPr>
        <p:spPr>
          <a:xfrm>
            <a:off x="495299" y="6419850"/>
            <a:ext cx="1028700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Decision support—not a guarantee or automated trade</a:t>
            </a:r>
          </a:p>
        </p:txBody>
      </p:sp>
      <p:sp>
        <p:nvSpPr>
          <p:cNvPr id="11" name="slide-number"/>
          <p:cNvSpPr txBox="1"/>
          <p:nvPr/>
        </p:nvSpPr>
        <p:spPr>
          <a:xfrm>
            <a:off x="11144250" y="6419850"/>
            <a:ext cx="552450" cy="2095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F6368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ETF Risk Monitor</dc:title>
  <dc:subject>Stakeholder decision support for weekly SPY risk review</dc:subject>
  <dc:creator>Paritosh Dwivedi</dc:creator>
  <cp:keywords>SPY, volatility, risk monitoring, FRE-GY 5040</cp:keywords>
  <dc:description>generated using python-pptx</dc:description>
  <cp:lastModifiedBy>Paritosh Dwivedi</cp:lastModifiedBy>
  <cp:revision>1</cp:revision>
  <dcterms:created xsi:type="dcterms:W3CDTF">2013-01-27T09:14:16Z</dcterms:created>
  <dcterms:modified xsi:type="dcterms:W3CDTF">2013-01-27T09:15:58Z</dcterms:modified>
  <cp:category/>
</cp:coreProperties>
</file>