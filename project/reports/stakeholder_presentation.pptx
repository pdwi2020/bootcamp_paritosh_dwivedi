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046e139f694a11" /><Relationship Type="http://schemas.openxmlformats.org/officeDocument/2006/relationships/extended-properties" Target="/docProps/app.xml" Id="Rbaf958f696d74c73" /><Relationship Type="http://schemas.openxmlformats.org/officeDocument/2006/relationships/officeDocument" Target="/ppt/presentation.xml" Id="Rd53a0f8064f446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a096f78098427b"/>
  </p:sldMasterIdLst>
  <p:notesMasterIdLst>
    <p:notesMasterId xmlns:r="http://schemas.openxmlformats.org/officeDocument/2006/relationships" r:id="R35732f385f9348f2"/>
  </p:notesMasterIdLst>
  <p:sldIdLst>
    <p:sldId xmlns:r="http://schemas.openxmlformats.org/officeDocument/2006/relationships" id="256" r:id="R7720d8f3fdb048fe"/>
    <p:sldId xmlns:r="http://schemas.openxmlformats.org/officeDocument/2006/relationships" id="257" r:id="Rd310859f26f14efd"/>
    <p:sldId xmlns:r="http://schemas.openxmlformats.org/officeDocument/2006/relationships" id="258" r:id="Ra86b09631ac948f4"/>
    <p:sldId xmlns:r="http://schemas.openxmlformats.org/officeDocument/2006/relationships" id="259" r:id="Ra99f7eb1960e4b39"/>
    <p:sldId xmlns:r="http://schemas.openxmlformats.org/officeDocument/2006/relationships" id="260" r:id="Rc18503a873af4566"/>
    <p:sldId xmlns:r="http://schemas.openxmlformats.org/officeDocument/2006/relationships" id="261" r:id="Rbd317b19ac1e4228"/>
    <p:sldId xmlns:r="http://schemas.openxmlformats.org/officeDocument/2006/relationships" id="262" r:id="Ra990a3e542d64708"/>
    <p:sldId xmlns:r="http://schemas.openxmlformats.org/officeDocument/2006/relationships" id="263" r:id="R000f687df64848f8"/>
    <p:sldId xmlns:r="http://schemas.openxmlformats.org/officeDocument/2006/relationships" id="264" r:id="R3e7f772708804f46"/>
    <p:sldId xmlns:r="http://schemas.openxmlformats.org/officeDocument/2006/relationships" id="265" r:id="R995eb571bdd148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616c686b4e4088" /><Relationship Type="http://schemas.openxmlformats.org/officeDocument/2006/relationships/slideMaster" Target="/ppt/slideMasters/slideMaster1.xml" Id="R23a096f78098427b" /><Relationship Type="http://schemas.openxmlformats.org/officeDocument/2006/relationships/notesMaster" Target="/ppt/notesMasters/notesMaster1.xml" Id="R35732f385f9348f2" /><Relationship Type="http://schemas.openxmlformats.org/officeDocument/2006/relationships/presProps" Target="/ppt/presProps.xml" Id="R8311f4c351104f4a" /><Relationship Type="http://schemas.openxmlformats.org/officeDocument/2006/relationships/tableStyles" Target="/ppt/tableStyles.xml" Id="R764c288df8c34947" /><Relationship Type="http://schemas.openxmlformats.org/officeDocument/2006/relationships/slide" Target="/ppt/slides/slide1.xml" Id="R7720d8f3fdb048fe" /><Relationship Type="http://schemas.openxmlformats.org/officeDocument/2006/relationships/slide" Target="/ppt/slides/slide2.xml" Id="Rd310859f26f14efd" /><Relationship Type="http://schemas.openxmlformats.org/officeDocument/2006/relationships/slide" Target="/ppt/slides/slide3.xml" Id="Ra86b09631ac948f4" /><Relationship Type="http://schemas.openxmlformats.org/officeDocument/2006/relationships/slide" Target="/ppt/slides/slide4.xml" Id="Ra99f7eb1960e4b39" /><Relationship Type="http://schemas.openxmlformats.org/officeDocument/2006/relationships/slide" Target="/ppt/slides/slide5.xml" Id="Rc18503a873af4566" /><Relationship Type="http://schemas.openxmlformats.org/officeDocument/2006/relationships/slide" Target="/ppt/slides/slide6.xml" Id="Rbd317b19ac1e4228" /><Relationship Type="http://schemas.openxmlformats.org/officeDocument/2006/relationships/slide" Target="/ppt/slides/slide7.xml" Id="Ra990a3e542d64708" /><Relationship Type="http://schemas.openxmlformats.org/officeDocument/2006/relationships/slide" Target="/ppt/slides/slide8.xml" Id="R000f687df64848f8" /><Relationship Type="http://schemas.openxmlformats.org/officeDocument/2006/relationships/slide" Target="/ppt/slides/slide9.xml" Id="R3e7f772708804f46" /><Relationship Type="http://schemas.openxmlformats.org/officeDocument/2006/relationships/slide" Target="/ppt/slides/slide10.xml" Id="R995eb571bdd148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20809d3c634b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72cd1549834965" /><Relationship Type="http://schemas.openxmlformats.org/officeDocument/2006/relationships/notesMaster" Target="/ppt/notesMasters/notesMaster1.xml" Id="R199804e077d545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266eb76a4e4f66" /><Relationship Type="http://schemas.openxmlformats.org/officeDocument/2006/relationships/notesMaster" Target="/ppt/notesMasters/notesMaster1.xml" Id="R5ce0f2dce5934b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e17965c17440b3" /><Relationship Type="http://schemas.openxmlformats.org/officeDocument/2006/relationships/notesMaster" Target="/ppt/notesMasters/notesMaster1.xml" Id="Rdf821a8fc52340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5b236fe2c445e2" /><Relationship Type="http://schemas.openxmlformats.org/officeDocument/2006/relationships/notesMaster" Target="/ppt/notesMasters/notesMaster1.xml" Id="R91b76ddc600e49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5243eaefe94eb8" /><Relationship Type="http://schemas.openxmlformats.org/officeDocument/2006/relationships/notesMaster" Target="/ppt/notesMasters/notesMaster1.xml" Id="R26dc77951c6144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17ac1414974a20" /><Relationship Type="http://schemas.openxmlformats.org/officeDocument/2006/relationships/notesMaster" Target="/ppt/notesMasters/notesMaster1.xml" Id="Rcd6867c8aca449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5ace3102064ac4" /><Relationship Type="http://schemas.openxmlformats.org/officeDocument/2006/relationships/notesMaster" Target="/ppt/notesMasters/notesMaster1.xml" Id="R78dc368146f648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c56a59e0bc4abf" /><Relationship Type="http://schemas.openxmlformats.org/officeDocument/2006/relationships/notesMaster" Target="/ppt/notesMasters/notesMaster1.xml" Id="Rfdd8edc5bde643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bc57f3d5414b3b" /><Relationship Type="http://schemas.openxmlformats.org/officeDocument/2006/relationships/notesMaster" Target="/ppt/notesMasters/notesMaster1.xml" Id="R9cc66731c65a4f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684857093a4522" /><Relationship Type="http://schemas.openxmlformats.org/officeDocument/2006/relationships/notesMaster" Target="/ppt/notesMasters/notesMaster1.xml" Id="R2554c73921f141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project/data/raw/spy_daily_*.csv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project/README.md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project/data/raw/spy_daily_*.manifest.json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project/src/features.py</a:t>
            </a:r>
          </a:p>
          <a:p xmlns:a="http://schemas.openxmlformats.org/drawingml/2006/main">
            <a:r>
              <a:t>- project/src/modeling.py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project/reports/model_predictions.csv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project/reports/model_predictions.csv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project/reports/risk_threshold_sensitivity.csv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project/reports/final_summary.md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project/docs/assumptions_and_risks.md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project/reports/final_summary.md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350ec733d4e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594f533e1443a4" /><Relationship Type="http://schemas.openxmlformats.org/officeDocument/2006/relationships/slideLayout" Target="/ppt/slideLayouts/slideLayout1.xml" Id="Rb22e62e4f2414b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2e62e4f2414b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beba6fa0444a8" /><Relationship Type="http://schemas.openxmlformats.org/officeDocument/2006/relationships/chart" Target="/ppt/slides/charts/chart1.xml" Id="R9e6e7ea8f89a49e1" /><Relationship Type="http://schemas.openxmlformats.org/officeDocument/2006/relationships/notesSlide" Target="/ppt/notesSlides/notesSlide1.xml" Id="R7371f9d9508b4d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84a9465d84717" /><Relationship Type="http://schemas.openxmlformats.org/officeDocument/2006/relationships/notesSlide" Target="/ppt/notesSlides/notesSlide2.xml" Id="R479232efde8e4b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4b343631f422d" /><Relationship Type="http://schemas.openxmlformats.org/officeDocument/2006/relationships/chart" Target="/ppt/slides/charts/chart2.xml" Id="R3faeffabb39c467f" /><Relationship Type="http://schemas.openxmlformats.org/officeDocument/2006/relationships/notesSlide" Target="/ppt/notesSlides/notesSlide3.xml" Id="R88a64ab385b24f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dd759d72247cc" /><Relationship Type="http://schemas.openxmlformats.org/officeDocument/2006/relationships/notesSlide" Target="/ppt/notesSlides/notesSlide4.xml" Id="R70c8c98ca61f45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d0214cb80423a" /><Relationship Type="http://schemas.openxmlformats.org/officeDocument/2006/relationships/chart" Target="/ppt/slides/charts/chart3.xml" Id="Rdaf766897ff741ac" /><Relationship Type="http://schemas.openxmlformats.org/officeDocument/2006/relationships/notesSlide" Target="/ppt/notesSlides/notesSlide5.xml" Id="R26601f1f51f242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df7eee1a04024" /><Relationship Type="http://schemas.openxmlformats.org/officeDocument/2006/relationships/chart" Target="/ppt/slides/charts/chart4.xml" Id="Ra121dab637354e34" /><Relationship Type="http://schemas.openxmlformats.org/officeDocument/2006/relationships/notesSlide" Target="/ppt/notesSlides/notesSlide6.xml" Id="R33dd872372cd40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0a87ff95b4cda" /><Relationship Type="http://schemas.openxmlformats.org/officeDocument/2006/relationships/notesSlide" Target="/ppt/notesSlides/notesSlide7.xml" Id="Rb2f1a4d2f24949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51d41bf9f45e2" /><Relationship Type="http://schemas.openxmlformats.org/officeDocument/2006/relationships/chart" Target="/ppt/slides/charts/chart5.xml" Id="R93864e77772b451a" /><Relationship Type="http://schemas.openxmlformats.org/officeDocument/2006/relationships/notesSlide" Target="/ppt/notesSlides/notesSlide8.xml" Id="Rf85d446401e747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360d352a44513" /><Relationship Type="http://schemas.openxmlformats.org/officeDocument/2006/relationships/notesSlide" Target="/ppt/notesSlides/notesSlide9.xml" Id="Rd505a535b5ee48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3c81f78ed423f" /><Relationship Type="http://schemas.openxmlformats.org/officeDocument/2006/relationships/notesSlide" Target="/ppt/notesSlides/notesSlide10.xml" Id="Rde468d18c4c74abc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SPY adjusted close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20"/>
              <c:pt idx="0">
                <c:v>2010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2015</c:v>
              </c:pt>
              <c:pt idx="8">
                <c:v>2016</c:v>
              </c:pt>
              <c:pt idx="9">
                <c:v>2017</c:v>
              </c:pt>
              <c:pt idx="10">
                <c:v>2018</c:v>
              </c:pt>
              <c:pt idx="11">
                <c:v>2019</c:v>
              </c:pt>
              <c:pt idx="12">
                <c:v>2020</c:v>
              </c:pt>
              <c:pt idx="13">
                <c:v>2020</c:v>
              </c:pt>
              <c:pt idx="14">
                <c:v>2021</c:v>
              </c:pt>
              <c:pt idx="15">
                <c:v>2022</c:v>
              </c:pt>
              <c:pt idx="16">
                <c:v>2023</c:v>
              </c:pt>
              <c:pt idx="17">
                <c:v>2024</c:v>
              </c:pt>
              <c:pt idx="18">
                <c:v>2025</c:v>
              </c:pt>
              <c:pt idx="19">
                <c:v>2025</c:v>
              </c:pt>
            </c:numLit>
          </c:cat>
          <c:val>
            <c:numLit>
              <c:formatCode>$0</c:formatCode>
              <c:ptCount val="20"/>
              <c:pt idx="0">
                <c:v>84.57848358154297</c:v>
              </c:pt>
              <c:pt idx="1">
                <c:v>90.43546295166016</c:v>
              </c:pt>
              <c:pt idx="2">
                <c:v>92.88772583007812</c:v>
              </c:pt>
              <c:pt idx="3">
                <c:v>107.77971649169922</c:v>
              </c:pt>
              <c:pt idx="4">
                <c:v>129.702392578125</c:v>
              </c:pt>
              <c:pt idx="5">
                <c:v>152.52484130859375</c:v>
              </c:pt>
              <c:pt idx="6">
                <c:v>165.05389404296875</c:v>
              </c:pt>
              <c:pt idx="7">
                <c:v>176.29649353027344</c:v>
              </c:pt>
              <c:pt idx="8">
                <c:v>186.57264709472656</c:v>
              </c:pt>
              <c:pt idx="9">
                <c:v>210.4241943359375</c:v>
              </c:pt>
              <c:pt idx="10">
                <c:v>235.2686767578125</c:v>
              </c:pt>
              <c:pt idx="11">
                <c:v>249.08682250976562</c:v>
              </c:pt>
              <c:pt idx="12">
                <c:v>295.742431640625</c:v>
              </c:pt>
              <c:pt idx="13">
                <c:v>323.8321533203125</c:v>
              </c:pt>
              <c:pt idx="14">
                <c:v>421.4343566894531</c:v>
              </c:pt>
              <c:pt idx="15">
                <c:v>364.2190856933594</c:v>
              </c:pt>
              <c:pt idx="16">
                <c:v>396.26715087890625</c:v>
              </c:pt>
              <c:pt idx="17">
                <c:v>501.64703369140625</c:v>
              </c:pt>
              <c:pt idx="18">
                <c:v>571.6043090820312</c:v>
              </c:pt>
              <c:pt idx="19">
                <c:v>677.7648315429688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  <c:lblOffset val="8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6EE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EAF5FB"/>
          </a:solidFill>
          <a:prstDash val="solid"/>
        </a:ln>
      </c:spPr>
    </c:plotArea>
    <c:plotVisOnly val="1"/>
  </c:chart>
  <c:spPr>
    <a:solidFill xmlns:a="http://schemas.openxmlformats.org/drawingml/2006/main">
      <a:srgbClr val="EAF5FB"/>
    </a:solidFill>
    <a:ln xmlns:a="http://schemas.openxmlformats.org/drawingml/2006/main" w="0">
      <a:solidFill>
        <a:srgbClr val="EAF5FB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SPY adjusted close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3D8DFF"/>
              </a:solidFill>
            </c:spPr>
          </c:marker>
          <c:cat>
            <c:strLit>
              <c:ptCount val="18"/>
              <c:pt idx="0">
                <c:v>2023-08</c:v>
              </c:pt>
              <c:pt idx="1">
                <c:v>2023-10</c:v>
              </c:pt>
              <c:pt idx="2">
                <c:v>2023-12</c:v>
              </c:pt>
              <c:pt idx="3">
                <c:v>2024-02</c:v>
              </c:pt>
              <c:pt idx="4">
                <c:v>2024-04</c:v>
              </c:pt>
              <c:pt idx="5">
                <c:v>2024-06</c:v>
              </c:pt>
              <c:pt idx="6">
                <c:v>2024-08</c:v>
              </c:pt>
              <c:pt idx="7">
                <c:v>2024-10</c:v>
              </c:pt>
              <c:pt idx="8">
                <c:v>2024-12</c:v>
              </c:pt>
              <c:pt idx="9">
                <c:v>2025-02</c:v>
              </c:pt>
              <c:pt idx="10">
                <c:v>2025-04</c:v>
              </c:pt>
              <c:pt idx="11">
                <c:v>2025-06</c:v>
              </c:pt>
              <c:pt idx="12">
                <c:v>2025-08</c:v>
              </c:pt>
              <c:pt idx="13">
                <c:v>2025-10</c:v>
              </c:pt>
              <c:pt idx="14">
                <c:v>2025-12</c:v>
              </c:pt>
              <c:pt idx="15">
                <c:v>2026-02</c:v>
              </c:pt>
              <c:pt idx="16">
                <c:v>2026-04</c:v>
              </c:pt>
              <c:pt idx="17">
                <c:v>2026-06</c:v>
              </c:pt>
            </c:strLit>
          </c:cat>
          <c:val>
            <c:numLit>
              <c:formatCode>$0</c:formatCode>
              <c:ptCount val="18"/>
              <c:pt idx="0">
                <c:v>429.3385925292969</c:v>
              </c:pt>
              <c:pt idx="1">
                <c:v>421.8327941894531</c:v>
              </c:pt>
              <c:pt idx="2">
                <c:v>446.65045166015625</c:v>
              </c:pt>
              <c:pt idx="3">
                <c:v>486.3096008300781</c:v>
              </c:pt>
              <c:pt idx="4">
                <c:v>497.431396484375</c:v>
              </c:pt>
              <c:pt idx="5">
                <c:v>527.1399536132812</c:v>
              </c:pt>
              <c:pt idx="6">
                <c:v>529.5048828125</c:v>
              </c:pt>
              <c:pt idx="7">
                <c:v>567.9132690429688</c:v>
              </c:pt>
              <c:pt idx="8">
                <c:v>595.2319946289062</c:v>
              </c:pt>
              <c:pt idx="9">
                <c:v>599.4672241210938</c:v>
              </c:pt>
              <c:pt idx="10">
                <c:v>530.151123046875</c:v>
              </c:pt>
              <c:pt idx="11">
                <c:v>594.318359375</c:v>
              </c:pt>
              <c:pt idx="12">
                <c:v>636.388671875</c:v>
              </c:pt>
              <c:pt idx="13">
                <c:v>659.7044067382812</c:v>
              </c:pt>
              <c:pt idx="14">
                <c:v>675.1365966796875</c:v>
              </c:pt>
              <c:pt idx="15">
                <c:v>679.2402954101562</c:v>
              </c:pt>
              <c:pt idx="16">
                <c:v>708.3152465820312</c:v>
              </c:pt>
              <c:pt idx="17">
                <c:v>739.0560302734375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  <c:lblOffset val="8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Ridge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4.021380034852036</c:v>
              </c:pt>
              <c:pt idx="1">
                <c:v>6.586536245331256</c:v>
              </c:pt>
            </c:numLit>
          </c:val>
        </c:ser>
        <c:ser>
          <c:idx val="1"/>
          <c:order val="1"/>
          <c:tx>
            <c:v>Recent-vol baseline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5.0736439313003405</c:v>
              </c:pt>
              <c:pt idx="1">
                <c:v>8.64132648900294</c:v>
              </c:pt>
            </c:numLit>
          </c:val>
        </c:ser>
        <c:ser>
          <c:idx val="2"/>
          <c:order val="2"/>
          <c:tx>
            <c:v>Historical mean</c:v>
          </c:tx>
          <c:spPr>
            <a:solidFill xmlns:a="http://schemas.openxmlformats.org/drawingml/2006/main">
              <a:srgbClr val="B8BCC4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5.167941188693652</c:v>
              </c:pt>
              <c:pt idx="1">
                <c:v>8.210604486408107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5F6368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Logistic risk model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Balanced accuracy</c:v>
              </c:pt>
              <c:pt idx="1">
                <c:v>Precision</c:v>
              </c:pt>
              <c:pt idx="2">
                <c:v>Recall</c:v>
              </c:pt>
              <c:pt idx="3">
                <c:v>ROC AUC</c:v>
              </c:pt>
            </c:strLit>
          </c:cat>
          <c:val>
            <c:numLit>
              <c:formatCode>General</c:formatCode>
              <c:ptCount val="4"/>
              <c:pt idx="0">
                <c:v>72.3</c:v>
              </c:pt>
              <c:pt idx="1">
                <c:v>37</c:v>
              </c:pt>
              <c:pt idx="2">
                <c:v>60.4</c:v>
              </c:pt>
              <c:pt idx="3">
                <c:v>77.7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Annualized volatility</c:v>
          </c:tx>
          <c:spPr>
            <a:solidFill xmlns:a="http://schemas.openxmlformats.org/drawingml/2006/main">
              <a:srgbClr val="3D8DFF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D92D20"/>
              </a:solidFill>
            </c:spPr>
          </c:dPt>
          <c:cat>
            <c:strLit>
              <c:ptCount val="3"/>
              <c:pt idx="0">
                <c:v>20-day actual</c:v>
              </c:pt>
              <c:pt idx="1">
                <c:v>Next-week forecast</c:v>
              </c:pt>
              <c:pt idx="2">
                <c:v>Risk threshold</c:v>
              </c:pt>
            </c:strLit>
          </c:cat>
          <c:val>
            <c:numLit>
              <c:formatCode>General</c:formatCode>
              <c:ptCount val="3"/>
              <c:pt idx="0">
                <c:v>13.5</c:v>
              </c:pt>
              <c:pt idx="1">
                <c:v>11.1</c:v>
              </c:pt>
              <c:pt idx="2">
                <c:v>17.8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54EB48-3D7E-48A2-A8EC-9025DBD8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FRE-GY 5040 · APPLIED FINANCIAL ENGINEERING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C580EAFD-F8CD-4DAA-A078-3329A999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66850"/>
            <a:ext cx="4953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Weekly ETF</a:t>
            </a:r>
          </a:p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Risk Monitor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E80CE-C324-4416-A51D-90C2D48C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48050"/>
            <a:ext cx="4857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368"/>
                </a:solidFill>
              </a:defRPr>
            </a:pPr>
            <a:r>
              <a:rPr sz="1875" b="0">
                <a:solidFill>
                  <a:srgbClr val="5F6368"/>
                </a:solidFill>
              </a:rPr>
              <a:t>A reproducible SPY signal for the portfolio manager's weekly risk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443AA-6144-4502-95E2-61D679ED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81600"/>
            <a:ext cx="457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Paritosh Dwivedi · Sole author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Data through August 17,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96F3A-8225-4D1C-869F-A118E9ED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"/>
            <a:ext cx="56007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419850" y="952500"/>
          <a:ext xmlns:a="http://schemas.openxmlformats.org/drawingml/2006/main" cx="4953000" cy="4324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6e7ea8f89a49e1"/>
          </a:graphicData>
        </a:graphic>
      </p:graphicFrame>
      <p:sp>
        <p:nvSpPr>
          <p:cNvPr id="7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0AEC0DE-57D4-42A4-9953-DEC5AC47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Source: immutable SPY raw snapshot and project metrics</a:t>
            </a:r>
          </a:p>
        </p:txBody>
      </p:sp>
      <p:sp>
        <p:nvSpPr>
          <p:cNvPr id="8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1D57707-8153-49D7-80BE-F3998596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289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72F7FE-4AAA-4A75-8C2A-B89D7DAD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One weekly question drives the entire pipeline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844AB45E-264A-4221-9E8D-FDC90ACA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1ACF8-2527-4E77-8637-6B4BBEC9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52197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Should the portfolio manager maintain SPY exposure—or investigate reducing it because near-term risk appears elevated?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6DE31-18C0-44CF-AFE3-B8E69FAC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4673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BECAB-20EE-471F-8AC7-B5EE833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THE USEFUL ANSWER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8A104-EEE5-4479-BDE2-7ED873B2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43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D6CAB8-B300-41BD-8F79-E225D088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43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9CABE-E78C-4C54-982F-784B0CDB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860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Next-week annualized realized volatility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FD81A-2A1C-4415-93EB-3C3A5AD8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55A2DE-EFC2-4300-AE97-03A005D2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337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Warning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18E5F-5754-4B99-802C-A503570A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Probability of an elevated-risk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C47AC-BC40-4B8D-98FA-6C054F4B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243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546E9-704D-4566-8AF8-FCFF4387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24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4BE4F-D0AF-49CA-B9AD-AD36EC6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Action language plus assumptions and limits</a:t>
            </a:r>
          </a:p>
        </p:txBody>
      </p:sp>
      <p:sp>
        <p:nvSpPr>
          <p:cNvPr id="1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80AB657B-FF22-4B33-AF6D-2527FB44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support—not automated trading advice</a:t>
            </a:r>
          </a:p>
        </p:txBody>
      </p:sp>
      <p:sp>
        <p:nvSpPr>
          <p:cNvPr id="1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D2AAD21-A6C6-477F-A0DA-388C17D9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886945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03531F-9C3B-4367-AD90-5895EBF1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4,180 validated trading days anchor the analysis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5C59B2B-8642-4ABE-88AE-29394A06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95300" y="1428750"/>
          <a:ext xmlns:a="http://schemas.openxmlformats.org/drawingml/2006/main" cx="723900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aeffabb39c467f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2D736-8197-4AF9-B658-B7E1E322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91CE0-E016-4470-9F40-8E938F07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0E46F-6867-4C19-A38F-1123DB24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002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4,180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A31E6-DF1A-4D0F-9B18-6E497E6D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669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OBSERVATIONS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EF52C9-70B0-41CF-B8EE-1074A42D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71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Daily SPY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EB7FB-D55B-4E3D-903E-7B24B005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908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B1B7A-5D38-4EF6-BCF7-C20BBFEC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908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B9A7E0-D094-4D06-97CB-9AAACCE6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16.6 yrs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F3EE2-45AC-40B5-B707-EBF2697D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290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A4A91-3396-4CAF-B8ED-D6615073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338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2010-01-04 to 2026-08-17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05421-B792-438E-AC18-1C0FE393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23203-E6B1-4B9B-AFA1-2E7D78F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0B361-7C93-4989-A6BE-260764D9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79F90-6555-4770-974B-1FC791AB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91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056FE-008A-4E4D-91F3-65E88308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4959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Missing required values or duplicates</a:t>
            </a:r>
          </a:p>
        </p:txBody>
      </p:sp>
      <p:sp>
        <p:nvSpPr>
          <p:cNvPr id="1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B91D36DB-4C56-4F15-AA1B-711EBA8A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Source: yfinance fallback; immutable CSV + SHA-256 manifest</a:t>
            </a:r>
          </a:p>
        </p:txBody>
      </p:sp>
      <p:sp>
        <p:nvSpPr>
          <p:cNvPr id="2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A07598-C804-4568-89D9-821F8530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653488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56B46F-8CCC-48B9-9758-6831E499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Every feature is available before the forecast window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6E0B0AF2-6D63-478A-A57B-6676C000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8F3F5-BF78-4401-BFF8-3271DE34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32411-0D2D-4CF5-A6E3-282EA2C1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1 ·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2A8E7-B8A2-48A9-9B10-40B949B8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Immutable daily prices and volume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672CB-3A9F-47EE-83E2-EB450886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CCEBE-9EE8-416E-838B-F973B565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17165-3B6F-43EF-81B3-F945A5C6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 · TRAILING SIGNALS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8B360-0C3E-48B7-8151-9F5934BC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Returns, volatility, drawdown,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FA527-5D12-4F7D-AB10-73C27E6D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7D05F4-AC2D-4378-9E6E-D3B3983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D6B43D-6EEC-4FAF-B5BD-EAB0291C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3 · FUTURE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F20B6-5B29-40D1-8519-504ACFA5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Next five trading days of realized volatility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D484C-023A-43A6-90D3-6D70FB9A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CC80C-89F6-47CD-88BD-216D957C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0A2ED-B0E1-4842-9C45-615D8260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4 · LATER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8B7A3-1C57-4C57-B8D8-54FDC15D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Chronological out-of-sample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E68F01-1E66-45AC-A0BF-C2D2EBA4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14950"/>
            <a:ext cx="904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Leakage control: risk thresholds are learned from training data only.</a:t>
            </a:r>
          </a:p>
        </p:txBody>
      </p:sp>
      <p:sp>
        <p:nvSpPr>
          <p:cNvPr id="1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700E97E-7481-41C8-8B9B-EE1753EC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Method: five-day horizon, lagged/rolling features, chronological 80/20 split</a:t>
            </a:r>
          </a:p>
        </p:txBody>
      </p:sp>
      <p:sp>
        <p:nvSpPr>
          <p:cNvPr id="2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1DDA153-F989-4784-B748-8AF564D9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17643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7C3676-D6DF-48EC-BB59-088C6514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Ridge cut forecast MAE by 20.7% versus recent volatility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F6A58A47-7BF5-4784-BBE1-B4BCA045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1B1CC-D33F-425F-B15A-79F6C7DC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Annualized volatility error (percentage points)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495300" y="1524000"/>
          <a:ext xmlns:a="http://schemas.openxmlformats.org/drawingml/2006/main" cx="6858000" cy="4362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f766897ff741a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98943-FF4D-4EE9-987E-CF76582E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D67D2-8A37-42B6-A8D3-089DDC95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CA1EC-82DE-4547-A03D-F02E1947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954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0.0402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E8C7C-3B7F-4E75-8B13-00D12B10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62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RIDGE MAE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844E4A-DD1F-4078-BF3C-92CE0DD1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66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Lower is better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45AED-85EA-43A7-A410-168CA69D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B5E02-0B28-4A16-8DEA-01D8C4CD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C1CC6B-CDCA-47BD-8266-1931B85B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575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0.335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41C9F-944B-444C-A071-24087124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242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R-SQUARED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E4BE45-27A6-42E6-88D7-0E4A79A6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290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Out-of-sample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23326-39CE-4FF0-9B48-1B5D1B4E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C020AA-F527-41AC-A29A-E0E0B6FD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597B2-1D58-4DE0-BE30-3C8110EB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196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20.7%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7209C2-ECB2-4E9E-9E4E-9306433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2863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IMPROVEMENT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4B8FE-5603-49F2-80E7-F475ABF2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5911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Versus recent-vol MAE</a:t>
            </a:r>
          </a:p>
        </p:txBody>
      </p:sp>
      <p:sp>
        <p:nvSpPr>
          <p:cNvPr id="20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6E86557-6CE7-4482-8BB6-F0B85391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Test period: 2023-04-12 to 2026-08-10</a:t>
            </a:r>
          </a:p>
        </p:txBody>
      </p:sp>
      <p:sp>
        <p:nvSpPr>
          <p:cNvPr id="2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B31BC34-29FA-4F3C-BCFE-4888C61D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126586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D7B6E5-8DF9-44BE-9D72-59C18022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The warning model catches 60% of elevated-risk weeks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86638F38-320D-4647-9D5D-571CEF62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495300" y="1562100"/>
          <a:ext xmlns:a="http://schemas.openxmlformats.org/drawingml/2006/main" cx="69342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21dab637354e3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E2281-0CFB-4871-B4DE-95D12BBD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81150"/>
            <a:ext cx="37528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E2CCF-5D0C-4335-8DAC-159EA021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478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309AB-77B6-4966-83E2-738BD23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479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elevated-risk weeks caught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03A9F-B959-4ACD-8864-1EA31C92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146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44 elevated-risk weeks were missed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1592F-3926-44E6-934F-1A4F5264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576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Why balanced accuracy?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BC698-8948-4236-B95D-4E9E9707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05300"/>
            <a:ext cx="3638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Elevated-risk weeks are only 13.3% of the test set. The prior baseline reaches high raw accuracy by predicting only the majority class—but catches zero elevated-risk weeks.</a:t>
            </a:r>
          </a:p>
        </p:txBody>
      </p:sp>
      <p:sp>
        <p:nvSpPr>
          <p:cNvPr id="10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1B06101-7EE1-46A5-B1CC-AA06FD1D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emphasis: elevated-risk recall and balanced accuracy</a:t>
            </a:r>
          </a:p>
        </p:txBody>
      </p:sp>
      <p:sp>
        <p:nvSpPr>
          <p:cNvPr id="1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AADB77A-FFDA-4BED-B789-D1416A62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441714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267890-983A-488D-AC22-C263245E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The risk label is useful—but threshold-dependent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9E11D2A-F2F1-427E-8E51-072A021D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E883A-2717-4887-AC08-C70668FC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Training-derived quantiles move the volatility threshold and change the precision–recall tradeoff.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495300" y="2076450"/>
          <a:ext xmlns:a="http://schemas.openxmlformats.org/drawingml/2006/main" cx="11201400" cy="2667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66900"/>
                <a:gridCol w="2095500"/>
                <a:gridCol w="2095500"/>
                <a:gridCol w="1714500"/>
                <a:gridCol w="1714500"/>
                <a:gridCol w="1714500"/>
              </a:tblGrid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Risk quantile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Volatility threshold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Balanced accuracy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70%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16.3%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70.6%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44.8%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58.4%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50.7%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75%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17.8%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72.3%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37.0%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60.4%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45.9%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80%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19.7%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72.6%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32.8%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57.1%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1111"/>
                          </a:solidFill>
                        </a:rPr>
                        <a:t>41.7%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225AC-17CD-47AE-992A-1EA0FD2D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Interpretation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16B5F0-EDF4-4365-B5F0-DEBA3E4E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21970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The 75th percentile balances warning recall and false alarms, but it is not a universal definition of market danger.</a:t>
            </a:r>
          </a:p>
        </p:txBody>
      </p:sp>
      <p:sp>
        <p:nvSpPr>
          <p:cNvPr id="7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0932C5B-F4F5-451F-980B-BD65BD50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Sensitivity: thresholds estimated only from training observations</a:t>
            </a:r>
          </a:p>
        </p:txBody>
      </p:sp>
      <p:sp>
        <p:nvSpPr>
          <p:cNvPr id="8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D887865-1DC7-4851-A582-8862C7BF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249271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74CC14-852C-46BE-89C1-E2AB97D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Current signal is normal—not risk-free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98FB1ADE-DA8D-4D0A-AFEB-A8FC1530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B45C5-9E3E-43C2-832F-6B3AFA3F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3D8DFF"/>
                </a:solidFill>
              </a:defRPr>
            </a:pPr>
            <a:r>
              <a:rPr sz="5700" b="1">
                <a:solidFill>
                  <a:srgbClr val="3D8DFF"/>
                </a:solidFill>
              </a:rPr>
              <a:t>NORMAL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C03D5-448F-4AB2-9CCE-1C269938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As of 2026-08-17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4D75B-A628-4062-BD6A-2D5D353D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The model does not flag elevated risk; maintain exposure only within the existing mandate.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C9DCE-FAD5-41A3-BBA8-D7D95E90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</a:defRPr>
            </a:pPr>
            <a:r>
              <a:rPr sz="1425" b="0">
                <a:solidFill>
                  <a:srgbClr val="5F6368"/>
                </a:solidFill>
              </a:rPr>
              <a:t>A normal signal means the model does not detect elevated relative risk under its historical definition.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5C1141-9B92-4446-9F2F-8766E95F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162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Annualized volatility (%)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115050" y="1428750"/>
          <a:ext xmlns:a="http://schemas.openxmlformats.org/drawingml/2006/main" cx="55816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864e77772b451a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60384-C55E-4DA0-8AE7-C4412FAE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38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Elevated-risk probability: 22.2%</a:t>
            </a:r>
          </a:p>
        </p:txBody>
      </p:sp>
      <p:sp>
        <p:nvSpPr>
          <p:cNvPr id="10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E82B1CB1-870C-4301-96F3-F3D0F686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The signal supports review; it does not authorize a trade</a:t>
            </a:r>
          </a:p>
        </p:txBody>
      </p:sp>
      <p:sp>
        <p:nvSpPr>
          <p:cNvPr id="1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BC164CA-787C-435B-B108-81AD234C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69723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91210A-F7A8-4AC3-B09F-C5730E81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Four risks define how the signal should be used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F3654C6F-9B98-47E8-81D5-30ED2FE4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F1D98-7FD2-4A65-A74E-25B6920E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3830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A5F90-DF4C-4E25-8BF4-E906E183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REGIME CHANGE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94A5C-9849-4548-BAF4-328030C4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Historical relationships can fail when market structure shifts.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AE36E-184F-4BE2-BB15-33BA26CD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3830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214DC-5071-4E9A-AFB8-527F3B88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05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FALSE REASSURANCE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6DD70-8518-4BD2-9AE1-0EEFAA8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Normal means not elevated by this model—not safe.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93CE6-A9DB-4F18-BDD2-CA86BFC6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1A856-2011-4A36-AE67-F145A54A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THRESHOLD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90204-5B5B-4EC8-9845-AD05EA90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Precision and recall move as the risk quantile changes.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9C95D-F0E2-49FD-9459-D27DFB44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4335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563A3C-FECB-47B3-8DED-990AC9EA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100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PROVIDER REVISION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048B2-59DF-43C7-B490-BF166D19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2440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Adjusted prices and source schemas may change after retrieval.</a:t>
            </a:r>
          </a:p>
        </p:txBody>
      </p:sp>
      <p:sp>
        <p:nvSpPr>
          <p:cNvPr id="1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CD19050-897E-4906-83BC-AD5BEBF0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Mitigations: immutable data, validation, chronological tests, sensitivity, explicit caveats</a:t>
            </a:r>
          </a:p>
        </p:txBody>
      </p:sp>
      <p:sp>
        <p:nvSpPr>
          <p:cNvPr id="1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2027E5-BD7F-46ED-92CC-27EAC1A7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82105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B240A-6E6C-49FC-A1FF-E9C62DCF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C5630-7C15-4D96-9AFD-B9727F9F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8763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Maintain exposure within the existing mandate—and keep monitoring.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A8B2C-C608-47A4-A87B-B4802959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836F6-8103-41A5-8E9B-97828834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790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F6368"/>
                </a:solidFill>
              </a:defRPr>
            </a:pPr>
            <a:r>
              <a:rPr sz="2025" b="0">
                <a:solidFill>
                  <a:srgbClr val="5F6368"/>
                </a:solidFill>
              </a:rPr>
              <a:t>Investigate exposure or hedging when the elevated-risk probability reaches 50% or the forecast rises above the training-derived threshold.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7A325-D41C-49FC-A061-8515FD27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86200"/>
            <a:ext cx="24955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7ABE9-042E-4CA0-90E2-905EEC4C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33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NEXT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FA2482-496D-496E-BB13-9C8A8A54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33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Weekly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1D33E-BA36-4506-942B-DD743891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626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Paritosh Dwivedi · Sole author</a:t>
            </a:r>
          </a:p>
        </p:txBody>
      </p:sp>
      <p:sp>
        <p:nvSpPr>
          <p:cNvPr id="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571FF02-77B6-4139-B7D6-83FFCFB5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support—not a guarantee or automated trade</a:t>
            </a:r>
          </a:p>
        </p:txBody>
      </p:sp>
      <p:sp>
        <p:nvSpPr>
          <p:cNvPr id="1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C46CD25-3E63-439D-902F-C0C99E4E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960239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2026-08-17T22:52:36.0030000Z</dcterms:created>
  <dcterms:modified xsi:type="dcterms:W3CDTF">2026-08-17T22:52:36.0030000Z</dcterms:modified>
</coreProperties>
</file>