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2023-08</c:v>
                </c:pt>
                <c:pt idx="1">
                  <c:v>2023-10</c:v>
                </c:pt>
                <c:pt idx="2">
                  <c:v>2023-12</c:v>
                </c:pt>
                <c:pt idx="3">
                  <c:v>2024-01</c:v>
                </c:pt>
                <c:pt idx="4">
                  <c:v>2024-03</c:v>
                </c:pt>
                <c:pt idx="5">
                  <c:v>2024-05</c:v>
                </c:pt>
                <c:pt idx="6">
                  <c:v>2024-07</c:v>
                </c:pt>
                <c:pt idx="7">
                  <c:v>2024-09</c:v>
                </c:pt>
                <c:pt idx="8">
                  <c:v>2024-10</c:v>
                </c:pt>
                <c:pt idx="9">
                  <c:v>2024-12</c:v>
                </c:pt>
                <c:pt idx="10">
                  <c:v>2025-02</c:v>
                </c:pt>
                <c:pt idx="11">
                  <c:v>2025-04</c:v>
                </c:pt>
                <c:pt idx="12">
                  <c:v>2025-06</c:v>
                </c:pt>
                <c:pt idx="13">
                  <c:v>2025-08</c:v>
                </c:pt>
                <c:pt idx="14">
                  <c:v>2025-10</c:v>
                </c:pt>
                <c:pt idx="15">
                  <c:v>2025-11</c:v>
                </c:pt>
                <c:pt idx="16">
                  <c:v>2026-01</c:v>
                </c:pt>
                <c:pt idx="17">
                  <c:v>2026-03</c:v>
                </c:pt>
                <c:pt idx="18">
                  <c:v>2026-05</c:v>
                </c:pt>
                <c:pt idx="19">
                  <c:v>2026-07</c:v>
                </c:pt>
                <c:pt idx="20">
                  <c:v>2026-08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420.3211364746094</c:v>
                </c:pt>
                <c:pt idx="1">
                  <c:v>421.832763671875</c:v>
                </c:pt>
                <c:pt idx="2">
                  <c:v>441.439453125</c:v>
                </c:pt>
                <c:pt idx="3">
                  <c:v>468.7396545410156</c:v>
                </c:pt>
                <c:pt idx="4">
                  <c:v>505.18231201171875</c:v>
                </c:pt>
                <c:pt idx="5">
                  <c:v>516.13671875</c:v>
                </c:pt>
                <c:pt idx="6">
                  <c:v>551.7969970703125</c:v>
                </c:pt>
                <c:pt idx="7">
                  <c:v>533.7737426757812</c:v>
                </c:pt>
                <c:pt idx="8">
                  <c:v>557.1934814453125</c:v>
                </c:pt>
                <c:pt idx="9">
                  <c:v>591.2184448242188</c:v>
                </c:pt>
                <c:pt idx="10">
                  <c:v>587.1578979492188</c:v>
                </c:pt>
                <c:pt idx="11">
                  <c:v>519.1064453125</c:v>
                </c:pt>
                <c:pt idx="12">
                  <c:v>595.37353515625</c:v>
                </c:pt>
                <c:pt idx="13">
                  <c:v>625.3212890625</c:v>
                </c:pt>
                <c:pt idx="14">
                  <c:v>662.95751953125</c:v>
                </c:pt>
                <c:pt idx="15">
                  <c:v>663.235107421875</c:v>
                </c:pt>
                <c:pt idx="16">
                  <c:v>681.77685546875</c:v>
                </c:pt>
                <c:pt idx="17">
                  <c:v>667.2440185546875</c:v>
                </c:pt>
                <c:pt idx="18">
                  <c:v>737.4002685546875</c:v>
                </c:pt>
                <c:pt idx="19">
                  <c:v>747.7100219726562</c:v>
                </c:pt>
                <c:pt idx="20">
                  <c:v>765.719970703125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circle"/>
            <c:size val="4"/>
            <c:spPr>
              <a:solidFill>
                <a:srgbClr val="3D8DFF"/>
              </a:solidFill>
              <a:ln>
                <a:solidFill>
                  <a:srgbClr val="3D8DFF"/>
                </a:solidFill>
              </a:ln>
            </c:spPr>
          </c:marker>
          <c:cat>
            <c:strRef>
              <c:f>Sheet1!$A$2:$A$24</c:f>
              <c:strCache>
                <c:ptCount val="23"/>
                <c:pt idx="0">
                  <c:v>2010-01</c:v>
                </c:pt>
                <c:pt idx="1">
                  <c:v>2010-10</c:v>
                </c:pt>
                <c:pt idx="2">
                  <c:v>2011-07</c:v>
                </c:pt>
                <c:pt idx="3">
                  <c:v>2012-04</c:v>
                </c:pt>
                <c:pt idx="4">
                  <c:v>2013-01</c:v>
                </c:pt>
                <c:pt idx="5">
                  <c:v>2013-10</c:v>
                </c:pt>
                <c:pt idx="6">
                  <c:v>2014-07</c:v>
                </c:pt>
                <c:pt idx="7">
                  <c:v>2015-04</c:v>
                </c:pt>
                <c:pt idx="8">
                  <c:v>2016-01</c:v>
                </c:pt>
                <c:pt idx="9">
                  <c:v>2016-10</c:v>
                </c:pt>
                <c:pt idx="10">
                  <c:v>2017-08</c:v>
                </c:pt>
                <c:pt idx="11">
                  <c:v>2018-05</c:v>
                </c:pt>
                <c:pt idx="12">
                  <c:v>2019-02</c:v>
                </c:pt>
                <c:pt idx="13">
                  <c:v>2019-11</c:v>
                </c:pt>
                <c:pt idx="14">
                  <c:v>2020-08</c:v>
                </c:pt>
                <c:pt idx="15">
                  <c:v>2021-05</c:v>
                </c:pt>
                <c:pt idx="16">
                  <c:v>2022-02</c:v>
                </c:pt>
                <c:pt idx="17">
                  <c:v>2022-11</c:v>
                </c:pt>
                <c:pt idx="18">
                  <c:v>2023-08</c:v>
                </c:pt>
                <c:pt idx="19">
                  <c:v>2024-06</c:v>
                </c:pt>
                <c:pt idx="20">
                  <c:v>2025-03</c:v>
                </c:pt>
                <c:pt idx="21">
                  <c:v>2025-12</c:v>
                </c:pt>
                <c:pt idx="22">
                  <c:v>2026-08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84.57846069335938</c:v>
                </c:pt>
                <c:pt idx="1">
                  <c:v>87.83150482177734</c:v>
                </c:pt>
                <c:pt idx="2">
                  <c:v>101.35928344726562</c:v>
                </c:pt>
                <c:pt idx="3">
                  <c:v>108.30094146728516</c:v>
                </c:pt>
                <c:pt idx="4">
                  <c:v>116.77908325195312</c:v>
                </c:pt>
                <c:pt idx="5">
                  <c:v>140.524658203125</c:v>
                </c:pt>
                <c:pt idx="6">
                  <c:v>162.4275360107422</c:v>
                </c:pt>
                <c:pt idx="7">
                  <c:v>175.43174743652344</c:v>
                </c:pt>
                <c:pt idx="8">
                  <c:v>163.3172149658203</c:v>
                </c:pt>
                <c:pt idx="9">
                  <c:v>181.96749877929688</c:v>
                </c:pt>
                <c:pt idx="10">
                  <c:v>215.030517578125</c:v>
                </c:pt>
                <c:pt idx="11">
                  <c:v>237.54273986816406</c:v>
                </c:pt>
                <c:pt idx="12">
                  <c:v>245.20436096191406</c:v>
                </c:pt>
                <c:pt idx="13">
                  <c:v>280.3721008300781</c:v>
                </c:pt>
                <c:pt idx="14">
                  <c:v>311.8583984375</c:v>
                </c:pt>
                <c:pt idx="15">
                  <c:v>386.551025390625</c:v>
                </c:pt>
                <c:pt idx="16">
                  <c:v>397.0208740234375</c:v>
                </c:pt>
                <c:pt idx="17">
                  <c:v>382.9429626464844</c:v>
                </c:pt>
                <c:pt idx="18">
                  <c:v>433.8665466308594</c:v>
                </c:pt>
                <c:pt idx="19">
                  <c:v>520.6255493164062</c:v>
                </c:pt>
                <c:pt idx="20">
                  <c:v>549.4632568359375</c:v>
                </c:pt>
                <c:pt idx="21">
                  <c:v>676.1580810546875</c:v>
                </c:pt>
                <c:pt idx="22">
                  <c:v>765.719970703125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3.997351119803928</c:v>
                </c:pt>
                <c:pt idx="1">
                  <c:v>6.56511669302305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Recent-vol baseline</c:v>
                </c:pt>
              </c:strCache>
            </c:strRef>
          </c:tx>
          <c:spPr>
            <a:solidFill>
              <a:srgbClr val="6DCBF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5.066843563244119</c:v>
                </c:pt>
                <c:pt idx="1">
                  <c:v>8.631893145317354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Historical mean</c:v>
                </c:pt>
              </c:strCache>
            </c:strRef>
          </c:tx>
          <c:spPr>
            <a:solidFill>
              <a:srgbClr val="B8BCC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5.162876014673304</c:v>
                </c:pt>
                <c:pt idx="1">
                  <c:v>8.201856421046429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636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risk model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Balanced accuracy</c:v>
                </c:pt>
                <c:pt idx="1">
                  <c:v>Precision</c:v>
                </c:pt>
                <c:pt idx="2">
                  <c:v>Recall</c:v>
                </c:pt>
                <c:pt idx="3">
                  <c:v>ROC AUC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72.38707673190432</c:v>
                </c:pt>
                <c:pt idx="1">
                  <c:v>37.22222222222222</c:v>
                </c:pt>
                <c:pt idx="2">
                  <c:v>60.36036036036037</c:v>
                </c:pt>
                <c:pt idx="3">
                  <c:v>77.83659521590556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volatility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dPt>
            <c:idx val="2"/>
            <c:spPr>
              <a:solidFill>
                <a:srgbClr val="D92D20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20-day actual</c:v>
                </c:pt>
                <c:pt idx="1">
                  <c:v>Five-session forecast</c:v>
                </c:pt>
                <c:pt idx="2">
                  <c:v>Risk threshold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13.147258293105518</c:v>
                </c:pt>
                <c:pt idx="1">
                  <c:v>13.178000306709961</c:v>
                </c:pt>
                <c:pt idx="2">
                  <c:v>17.139276851402677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project/data/raw/spy_daily_20260822T145555677609Z.csv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project/README.md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project/data/raw/spy_daily_20260822T145555677609Z.manifest.json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project/src/features.py</a:t>
            </a:r>
          </a:p>
          <a:p>
            <a:r>
              <a:t>- project/src/modeling.py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project/reports/risk_threshold_sensitivity.csv</a:t>
            </a:r>
          </a:p>
          <a:p>
            <a:r>
              <a:t>- project/reports/feature_window_sensitivity.csv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project/reports/final_summary.md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project/docs/assumptions_and_risks.md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project/reports/final_summary.md</a:t>
            </a:r>
          </a:p>
          <a:p>
            <a:r>
              <a:t>- project/reports/metrics.json</a:t>
            </a:r>
          </a:p>
          <a:p>
            <a:r>
              <a:t>- project/README.md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40005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D8DFF"/>
                </a:solidFill>
                <a:latin typeface="Arial"/>
              </a:defRPr>
            </a:pPr>
            <a:r>
              <a:t>FRE-GY 5040 · APPLIED FINANCIAL ENGINEERING</a:t>
            </a:r>
          </a:p>
        </p:txBody>
      </p:sp>
      <p:sp>
        <p:nvSpPr>
          <p:cNvPr id="3" name="deck-title"/>
          <p:cNvSpPr txBox="1"/>
          <p:nvPr/>
        </p:nvSpPr>
        <p:spPr>
          <a:xfrm>
            <a:off x="495299" y="1466850"/>
            <a:ext cx="4953000" cy="169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Weekly ETF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Risk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299" y="3448050"/>
            <a:ext cx="4857750" cy="876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F6368"/>
                </a:solidFill>
                <a:latin typeface="Arial"/>
              </a:defRPr>
            </a:pPr>
            <a:r>
              <a:t>A reproducible SPY signal for the portfolio manager's weekly risk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99" y="5181600"/>
            <a:ext cx="4572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Author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Data through August 21,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0" y="400050"/>
            <a:ext cx="5600700" cy="560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19850" y="952500"/>
          <a:ext cx="4953000" cy="43243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67500" y="5391150"/>
            <a:ext cx="44577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Recent 756 validated trading sessions</a:t>
            </a:r>
          </a:p>
        </p:txBody>
      </p:sp>
      <p:sp>
        <p:nvSpPr>
          <p:cNvPr id="9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immutable SPY raw snapshot and project metrics</a:t>
            </a:r>
          </a:p>
        </p:txBody>
      </p:sp>
      <p:sp>
        <p:nvSpPr>
          <p:cNvPr id="10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One weekly question drives the entire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2450" y="1562100"/>
            <a:ext cx="5219700" cy="2571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Should the portfolio manager maintain SPY exposure—or investigate reducing it because near-term risk appears elevated?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229350" y="1466850"/>
            <a:ext cx="5467350" cy="4190999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91300" y="1771650"/>
            <a:ext cx="4572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3D8DFF"/>
                </a:solidFill>
                <a:latin typeface="Arial"/>
              </a:defRPr>
            </a:pPr>
            <a:r>
              <a:t>THE USEFUL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0350" y="23431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1850" y="23431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1850" y="26860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Next-five-session annualized volatility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3337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1850" y="33337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81850" y="3676649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Class-weighted risk score—not a literal probability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0350" y="43243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1850" y="43243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1850" y="46672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Action language plus assumptions and limits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automated trading advice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4,184 validated trading days anchor the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art-window-label"/>
          <p:cNvSpPr txBox="1"/>
          <p:nvPr/>
        </p:nvSpPr>
        <p:spPr>
          <a:xfrm>
            <a:off x="495299" y="1143000"/>
            <a:ext cx="7239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SPY adjusted close · full validated history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428750"/>
          <a:ext cx="7239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191500" y="14287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91500" y="14287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39150" y="16002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4,184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9150" y="2066924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150" y="23717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Daily SPY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0" y="29908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91500" y="299085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150" y="31623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16.6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150" y="36290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150" y="3933824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2010-01-04 to 2026-08-21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1500" y="45529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1500" y="45529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47244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51911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4959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Missing required values or duplicates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yfinance fallback; immutable CSV + SHA-256 manifest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Every feature is available before the forecast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1 ·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Immutable daily prices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6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2 · TRAILING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Returns, volatility, drawdown,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4100" y="2000250"/>
            <a:ext cx="2305050" cy="27813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D8DFF"/>
                </a:solidFill>
                <a:latin typeface="Arial"/>
              </a:defRPr>
            </a:pPr>
            <a:r>
              <a:t>3 · FUTURE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Next five trading days of realized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44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35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1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4 · LATER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21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Chronological out-of-sample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299" y="5219700"/>
            <a:ext cx="10668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Leakage control: threshold and outlier parameters use training data only; 5 sessions are embargoed.</a:t>
            </a:r>
          </a:p>
        </p:txBody>
      </p:sp>
      <p:sp>
        <p:nvSpPr>
          <p:cNvPr id="2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Method: five-session horizon, trailing features, purged chronological 80/20 split</a:t>
            </a:r>
          </a:p>
        </p:txBody>
      </p:sp>
      <p:sp>
        <p:nvSpPr>
          <p:cNvPr id="2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Ridge cut forecast MAE by 21.1% versus recent volatility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4953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error (percentage points)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524000"/>
          <a:ext cx="6858000" cy="43624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020050" y="15240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20050" y="15240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67699" y="16954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4.00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7699" y="21621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RIDGE 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7699" y="24669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Annualized-vol 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0050" y="30861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0050" y="308610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699" y="32575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0.338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699" y="37242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R-SQUARED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7699" y="40290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Out-of-sample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0050" y="46482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0050" y="46482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699" y="48196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21.1%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699" y="52863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IMPROVEMENT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7699" y="55911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Versus recent-vol MAE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Test period: 2023-04-17 to 2026-08-14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The warning model catches 60% of elevated-risk windows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95299" y="1562100"/>
          <a:ext cx="6934200" cy="4286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943850" y="1581150"/>
            <a:ext cx="3752850" cy="179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67699" y="1847850"/>
            <a:ext cx="9525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3D8DFF"/>
                </a:solidFill>
                <a:latin typeface="Arial"/>
              </a:defRPr>
            </a:pPr>
            <a:r>
              <a:t>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67699" y="2447925"/>
            <a:ext cx="29527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elevated-risk windows caught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7699" y="2914650"/>
            <a:ext cx="29527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F6368"/>
                </a:solidFill>
                <a:latin typeface="Arial"/>
              </a:defRPr>
            </a:pPr>
            <a:r>
              <a:t>44 elevated-risk windows were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3850" y="3857625"/>
            <a:ext cx="3333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1"/>
                </a:solidFill>
                <a:latin typeface="Arial"/>
              </a:defRPr>
            </a:pPr>
            <a:r>
              <a:t>Why balanced accuracy?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3850" y="4305300"/>
            <a:ext cx="3638550" cy="1200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Elevated-risk windows are only 13.3% of the holdout. The prior baseline predicts only the majority class and catches zero elevated-risk windows.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emphasis: elevated-risk recall and balanced accuracy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Robustness checks temper confidence—not the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106680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F6368"/>
                </a:solidFill>
                <a:latin typeface="Arial"/>
              </a:defRPr>
            </a:pPr>
            <a:r>
              <a:t>Overlapping targets, changing regimes, and tail errors all need explicit checks.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99" y="1676400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2950" y="186689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52–68%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1350" y="181927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NON-OVERLAPPING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350" y="214312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5 offsets sample every fifth forecast window; no offset reverses the warning model's usefulness.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299" y="275272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950" y="294322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33–83%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350" y="289560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CALENDAR-YEAR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1350" y="321945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Recall varies from 2024 to 2025, confirming that market regimes materially affect detection.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3829050"/>
            <a:ext cx="11201400" cy="9144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2950" y="401954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3D8DFF"/>
                </a:solidFill>
                <a:latin typeface="Arial"/>
              </a:defRPr>
            </a:pPr>
            <a:r>
              <a:t>74.0%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1350" y="397192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WALK-FORWARD 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1350" y="429577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4 expanding folds with a 5-session embargo; balanced accuracy 79.1%.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299" y="490537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950" y="509587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+8.5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1350" y="504825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TOP-DECILE UNDERPREDICTION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1350" y="537210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windows, so tail-risk decisions still require human judgment.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Also tested: 70%–80% risk quantiles, 3 feature-window specifications, and outlier-flag ablation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11111"/>
                </a:solidFill>
                <a:latin typeface="Arial"/>
              </a:defRPr>
            </a:pPr>
            <a:r>
              <a:t>Current signal is normal—not risk-free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371600"/>
            <a:ext cx="4953000" cy="9905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600" b="1">
                <a:solidFill>
                  <a:srgbClr val="3D8DFF"/>
                </a:solidFill>
                <a:latin typeface="Arial"/>
              </a:defRPr>
            </a:pPr>
            <a:r>
              <a:t>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419350"/>
            <a:ext cx="342900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As of 2026-08-21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27660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4838700"/>
            <a:ext cx="4762500" cy="781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F6368"/>
                </a:solidFill>
                <a:latin typeface="Arial"/>
              </a:defRPr>
            </a:pPr>
            <a:r>
              <a:t>A normal signal means the model does not detect elevated relative risk under its historical definition.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5050" y="116205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(%)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115050" y="1428750"/>
          <a:ext cx="5581650" cy="4095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5638800"/>
            <a:ext cx="5048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Risk score: 35.3% · elevated at 50%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The signal supports review; it does not authorize a trade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Four risks define how the signal should be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163830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REGIME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Historical relationships can fail when market structure shifts.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9350" y="1638300"/>
            <a:ext cx="5467350" cy="17145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605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3D8DFF"/>
                </a:solidFill>
                <a:latin typeface="Arial"/>
              </a:defRPr>
            </a:pPr>
            <a:r>
              <a:t>FALSE REASSURANCE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605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Normal means not elevated by this model—not safe.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SCORE MISCALIBRATION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Class weighting makes the output a risk score—not a literal probability.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9350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605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TAIL UNDERPREDICTION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605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forecast windows.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Mitigations: hash validation, purged tests, walk-forward checks, tail diagnostics, explicit caveats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533400"/>
            <a:ext cx="209549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299" y="1200150"/>
            <a:ext cx="8763000" cy="18668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299" y="33909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299" y="3886200"/>
            <a:ext cx="790575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5F6368"/>
                </a:solidFill>
                <a:latin typeface="Arial"/>
              </a:defRPr>
            </a:pPr>
            <a:r>
              <a:t>Investigate exposure or hedging when the class-weighted elevated-risk score reaches 50%. Use the volatility forecast as supporting context.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201150" y="3886200"/>
            <a:ext cx="2495550" cy="135255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67850" y="4133849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NEXT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7850" y="4533900"/>
            <a:ext cx="200025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299" y="5962650"/>
            <a:ext cx="4190999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Author</a:t>
            </a:r>
          </a:p>
        </p:txBody>
      </p:sp>
      <p:sp>
        <p:nvSpPr>
          <p:cNvPr id="1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 guarantee or automated trade</a:t>
            </a:r>
          </a:p>
        </p:txBody>
      </p:sp>
      <p:sp>
        <p:nvSpPr>
          <p:cNvPr id="1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ETF Risk Monitor</dc:title>
  <dc:subject>Stakeholder decision support for weekly SPY risk review</dc:subject>
  <dc:creator>Paritosh Dwivedi</dc:creator>
  <cp:keywords>SPY, volatility, risk monitoring, FRE-GY 5040</cp:keywords>
  <dc:description>generated using python-pptx</dc:description>
  <cp:lastModifiedBy>Paritosh Dwivedi</cp:lastModifiedBy>
  <cp:revision>1</cp:revision>
  <dcterms:created xsi:type="dcterms:W3CDTF">2013-01-27T09:14:16Z</dcterms:created>
  <dcterms:modified xsi:type="dcterms:W3CDTF">2013-01-27T09:15:58Z</dcterms:modified>
  <cp:category/>
</cp:coreProperties>
</file>